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f2df520-7b14-fc54-d204-0746e67591a3}">
          <p14:sldIdLst>
            <p14:sldId id="256"/>
            <p14:sldId id="257"/>
            <p14:sldId id="258"/>
          </p14:sldIdLst>
        </p14:section>
        <p14:section name="Data" id="{ff4529a2-12f4-7237-c0e6-28b7d80c4bb5}">
          <p14:sldIdLst>
            <p14:sldId id="259"/>
            <p14:sldId id="260"/>
          </p14:sldIdLst>
        </p14:section>
        <p14:section name="Results" id="{6589c2b7-9057-b224-7c98-ab2303128ccb}">
          <p14:sldIdLst>
            <p14:sldId id="261"/>
            <p14:sldId id="262"/>
            <p14:sldId id="263"/>
            <p14:sldId id="264"/>
            <p14:sldId id="265"/>
            <p14:sldId id="266"/>
            <p14:sldId id="267"/>
            <p14:sldId id="268"/>
          </p14:sldIdLst>
        </p14:section>
        <p14:section name="Product" id="{7263abc6-73bb-1c0b-1678-193335aa9d37}">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Closed-eye F1, 13 DMD drivers, each judged with a cut tuned on the others</a:t>
            </a:r>
          </a:p>
        </c:rich>
      </c:tx>
      <c:layout/>
      <c:overlay val="0"/>
    </c:title>
    <c:autoTitleDeleted val="0"/>
    <c:plotArea>
      <c:layout/>
      <c:barChart>
        <c:barDir val="col"/>
        <c:grouping val="clustered"/>
        <c:varyColors val="0"/>
        <c:ser>
          <c:idx val="0"/>
          <c:order val="0"/>
          <c:tx>
            <c:strRef>
              <c:f>Sheet1!$B$1</c:f>
              <c:strCache>
                <c:ptCount val="1"/>
                <c:pt idx="0">
                  <c:v>Closed-eye F1</c:v>
                </c:pt>
              </c:strCache>
            </c:strRef>
          </c:tx>
          <c:spPr>
            <a:solidFill>
              <a:srgbClr val="64748B"/>
            </a:solidFill>
            <a:effectLst/>
          </c:spPr>
          <c:invertIfNegative val="0"/>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DC2626"/>
              </a:solidFill>
              <a:effectLst/>
            </c:spPr>
          </c:dPt>
          <c:dPt>
            <c:idx val="2"/>
            <c:invertIfNegative val="0"/>
            <c:bubble3D val="0"/>
            <c:spPr>
              <a:solidFill>
                <a:srgbClr val="F59E0B"/>
              </a:solidFill>
              <a:effectLst/>
            </c:spPr>
          </c:dPt>
          <c:cat>
            <c:multiLvlStrRef>
              <c:f>Sheet1!$A$2:$A$4</c:f>
              <c:multiLvlStrCache>
                <c:ptCount val="3"/>
                <c:lvl>
                  <c:pt idx="0">
                    <c:v>Before fix, old cut</c:v>
                  </c:pt>
                  <c:pt idx="1">
                    <c:v>Fixed EAR, old cut</c:v>
                  </c:pt>
                  <c:pt idx="2">
                    <c:v>Fixed EAR, CV-tuned cut</c:v>
                  </c:pt>
                </c:lvl>
              </c:multiLvlStrCache>
            </c:multiLvlStrRef>
          </c:cat>
          <c:val>
            <c:numRef>
              <c:f>Sheet1!$B$2:$B$4</c:f>
              <c:numCache>
                <c:formatCode>General</c:formatCode>
                <c:ptCount val="3"/>
                <c:pt idx="0">
                  <c:v>0.9184445612191277</c:v>
                </c:pt>
                <c:pt idx="1">
                  <c:v>0.8031748944760506</c:v>
                </c:pt>
                <c:pt idx="2">
                  <c:v>0.9475308641975309</c:v>
                </c:pt>
              </c:numCache>
            </c:numRef>
          </c:val>
        </c:ser>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8F0"/>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3-class video accuracy, UTA-RLDD official 5-fold split (chance 33%)</a:t>
            </a:r>
          </a:p>
        </c:rich>
      </c:tx>
      <c:layout/>
      <c:overlay val="0"/>
    </c:title>
    <c:autoTitleDeleted val="0"/>
    <c:plotArea>
      <c:layout/>
      <c:barChart>
        <c:barDir val="bar"/>
        <c:grouping val="clustered"/>
        <c:varyColors val="0"/>
        <c:ser>
          <c:idx val="0"/>
          <c:order val="0"/>
          <c:tx>
            <c:strRef>
              <c:f>Sheet1!$B$1</c:f>
              <c:strCache>
                <c:ptCount val="1"/>
                <c:pt idx="0">
                  <c:v>Video accuracy</c:v>
                </c:pt>
              </c:strCache>
            </c:strRef>
          </c:tx>
          <c:spPr>
            <a:solidFill>
              <a:srgbClr val="CBD5E1"/>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CBD5E1"/>
              </a:solidFill>
              <a:effectLst/>
            </c:spPr>
          </c:dPt>
          <c:dPt>
            <c:idx val="1"/>
            <c:invertIfNegative val="0"/>
            <c:bubble3D val="0"/>
            <c:spPr>
              <a:solidFill>
                <a:srgbClr val="CBD5E1"/>
              </a:solidFill>
              <a:effectLst/>
            </c:spPr>
          </c:dPt>
          <c:dPt>
            <c:idx val="2"/>
            <c:invertIfNegative val="0"/>
            <c:bubble3D val="0"/>
            <c:spPr>
              <a:solidFill>
                <a:srgbClr val="CBD5E1"/>
              </a:solidFill>
              <a:effectLst/>
            </c:spPr>
          </c:dPt>
          <c:dPt>
            <c:idx val="3"/>
            <c:invertIfNegative val="0"/>
            <c:bubble3D val="0"/>
            <c:spPr>
              <a:solidFill>
                <a:srgbClr val="CBD5E1"/>
              </a:solidFill>
              <a:effectLst/>
            </c:spPr>
          </c:dPt>
          <c:dPt>
            <c:idx val="4"/>
            <c:invertIfNegative val="0"/>
            <c:bubble3D val="0"/>
            <c:spPr>
              <a:solidFill>
                <a:srgbClr val="CBD5E1"/>
              </a:solidFill>
              <a:effectLst/>
            </c:spPr>
          </c:dPt>
          <c:dPt>
            <c:idx val="5"/>
            <c:invertIfNegative val="0"/>
            <c:bubble3D val="0"/>
            <c:spPr>
              <a:solidFill>
                <a:srgbClr val="F59E0B"/>
              </a:solidFill>
              <a:effectLst/>
            </c:spPr>
          </c:dPt>
          <c:dPt>
            <c:idx val="6"/>
            <c:invertIfNegative val="0"/>
            <c:bubble3D val="0"/>
            <c:spPr>
              <a:solidFill>
                <a:srgbClr val="64748B"/>
              </a:solidFill>
              <a:effectLst/>
            </c:spPr>
          </c:dPt>
          <c:dPt>
            <c:idx val="7"/>
            <c:invertIfNegative val="0"/>
            <c:bubble3D val="0"/>
            <c:spPr>
              <a:solidFill>
                <a:srgbClr val="0E7490"/>
              </a:solidFill>
              <a:effectLst/>
            </c:spPr>
          </c:dPt>
          <c:cat>
            <c:multiLvlStrRef>
              <c:f>Sheet1!$A$2:$A$9</c:f>
              <c:multiLvlStrCache>
                <c:ptCount val="8"/>
                <c:lvl>
                  <c:pt idx="0">
                    <c:v>Rule engine (app)</c:v>
                  </c:pt>
                  <c:pt idx="1">
                    <c:v>Gradient boosting</c:v>
                  </c:pt>
                  <c:pt idx="2">
                    <c:v>Random forest</c:v>
                  </c:pt>
                  <c:pt idx="3">
                    <c:v>Temporal CNN</c:v>
                  </c:pt>
                  <c:pt idx="4">
                    <c:v>GRU</c:v>
                  </c:pt>
                  <c:pt idx="5">
                    <c:v>Logistic regression</c:v>
                  </c:pt>
                  <c:pt idx="6">
                    <c:v>Human judges (published)</c:v>
                  </c:pt>
                  <c:pt idx="7">
                    <c:v>HM-LSTM (published)</c:v>
                  </c:pt>
                </c:lvl>
              </c:multiLvlStrCache>
            </c:multiLvlStrRef>
          </c:cat>
          <c:val>
            <c:numRef>
              <c:f>Sheet1!$B$2:$B$9</c:f>
              <c:numCache>
                <c:formatCode>General</c:formatCode>
                <c:ptCount val="8"/>
                <c:pt idx="0">
                  <c:v>0.47802197802197804</c:v>
                </c:pt>
                <c:pt idx="1">
                  <c:v>0.4835164835164835</c:v>
                </c:pt>
                <c:pt idx="2">
                  <c:v>0.5054945054945055</c:v>
                </c:pt>
                <c:pt idx="3">
                  <c:v>0.5054945054945055</c:v>
                </c:pt>
                <c:pt idx="4">
                  <c:v>0.521978021978022</c:v>
                </c:pt>
                <c:pt idx="5">
                  <c:v>0.532967032967033</c:v>
                </c:pt>
                <c:pt idx="6">
                  <c:v>0.578</c:v>
                </c:pt>
                <c:pt idx="7">
                  <c:v>0.652</c:v>
                </c:pt>
              </c:numCache>
            </c:numRef>
          </c:val>
        </c:ser>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2E8F0"/>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3-class video accuracy on identical clips</a:t>
            </a:r>
          </a:p>
        </c:rich>
      </c:tx>
      <c:layout/>
      <c:overlay val="0"/>
    </c:title>
    <c:autoTitleDeleted val="0"/>
    <c:plotArea>
      <c:layout/>
      <c:barChart>
        <c:barDir val="col"/>
        <c:grouping val="clustered"/>
        <c:varyColors val="0"/>
        <c:ser>
          <c:idx val="0"/>
          <c:order val="0"/>
          <c:tx>
            <c:strRef>
              <c:f>Sheet1!$B$1</c:f>
              <c:strCache>
                <c:ptCount val="1"/>
                <c:pt idx="0">
                  <c:v>Calibrated each session (app)</c:v>
                </c:pt>
              </c:strCache>
            </c:strRef>
          </c:tx>
          <c:spPr>
            <a:solidFill>
              <a:srgbClr val="CBD5E1"/>
            </a:solidFill>
            <a:effectLst/>
          </c:spPr>
          <c:invertIfNegative val="0"/>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Rule engine (app)</c:v>
                  </c:pt>
                  <c:pt idx="1">
                    <c:v>Logistic regression</c:v>
                  </c:pt>
                  <c:pt idx="2">
                    <c:v>Gradient boosting</c:v>
                  </c:pt>
                  <c:pt idx="3">
                    <c:v>GRU</c:v>
                  </c:pt>
                </c:lvl>
              </c:multiLvlStrCache>
            </c:multiLvlStrRef>
          </c:cat>
          <c:val>
            <c:numRef>
              <c:f>Sheet1!$B$2:$B$5</c:f>
              <c:numCache>
                <c:formatCode>General</c:formatCode>
                <c:ptCount val="4"/>
                <c:pt idx="0">
                  <c:v>0.4835164835164835</c:v>
                </c:pt>
                <c:pt idx="1">
                  <c:v>0.510989010989011</c:v>
                </c:pt>
                <c:pt idx="2">
                  <c:v>0.46703296703296704</c:v>
                </c:pt>
                <c:pt idx="3">
                  <c:v>0.510989010989011</c:v>
                </c:pt>
              </c:numCache>
            </c:numRef>
          </c:val>
        </c:ser>
        <c:ser>
          <c:idx val="1"/>
          <c:order val="1"/>
          <c:tx>
            <c:strRef>
              <c:f>Sheet1!$C$1</c:f>
              <c:strCache>
                <c:ptCount val="1"/>
                <c:pt idx="0">
                  <c:v>Whole alert baseline carried over (confounded)</c:v>
                </c:pt>
              </c:strCache>
            </c:strRef>
          </c:tx>
          <c:spPr>
            <a:solidFill>
              <a:srgbClr val="DC2626"/>
            </a:solidFill>
            <a:effectLst/>
          </c:spPr>
          <c:invertIfNegative val="0"/>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Rule engine (app)</c:v>
                  </c:pt>
                  <c:pt idx="1">
                    <c:v>Logistic regression</c:v>
                  </c:pt>
                  <c:pt idx="2">
                    <c:v>Gradient boosting</c:v>
                  </c:pt>
                  <c:pt idx="3">
                    <c:v>GRU</c:v>
                  </c:pt>
                </c:lvl>
              </c:multiLvlStrCache>
            </c:multiLvlStrRef>
          </c:cat>
          <c:val>
            <c:numRef>
              <c:f>Sheet1!$C$2:$C$5</c:f>
              <c:numCache>
                <c:formatCode>General</c:formatCode>
                <c:ptCount val="4"/>
                <c:pt idx="0">
                  <c:v>0.532967032967033</c:v>
                </c:pt>
                <c:pt idx="1">
                  <c:v>0.5769230769230769</c:v>
                </c:pt>
                <c:pt idx="2">
                  <c:v>0.6043956043956044</c:v>
                </c:pt>
                <c:pt idx="3">
                  <c:v>0.510989010989011</c:v>
                </c:pt>
              </c:numCache>
            </c:numRef>
          </c:val>
        </c:ser>
        <c:ser>
          <c:idx val="2"/>
          <c:order val="2"/>
          <c:tx>
            <c:strRef>
              <c:f>Sheet1!$D$1</c:f>
              <c:strCache>
                <c:ptCount val="1"/>
                <c:pt idx="0">
                  <c:v>Eye + mouth baseline only (controlled)</c:v>
                </c:pt>
              </c:strCache>
            </c:strRef>
          </c:tx>
          <c:spPr>
            <a:solidFill>
              <a:srgbClr val="F59E0B"/>
            </a:solidFill>
            <a:effectLst/>
          </c:spPr>
          <c:invertIfNegative val="0"/>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Rule engine (app)</c:v>
                  </c:pt>
                  <c:pt idx="1">
                    <c:v>Logistic regression</c:v>
                  </c:pt>
                  <c:pt idx="2">
                    <c:v>Gradient boosting</c:v>
                  </c:pt>
                  <c:pt idx="3">
                    <c:v>GRU</c:v>
                  </c:pt>
                </c:lvl>
              </c:multiLvlStrCache>
            </c:multiLvlStrRef>
          </c:cat>
          <c:val>
            <c:numRef>
              <c:f>Sheet1!$D$2:$D$5</c:f>
              <c:numCache>
                <c:formatCode>General</c:formatCode>
                <c:ptCount val="4"/>
                <c:pt idx="0">
                  <c:v>0.510989010989011</c:v>
                </c:pt>
                <c:pt idx="1">
                  <c:v>0.521978021978022</c:v>
                </c:pt>
                <c:pt idx="2">
                  <c:v>0.4835164835164835</c:v>
                </c:pt>
                <c:pt idx="3">
                  <c:v>0.5164835164835165</c:v>
                </c:pt>
              </c:numCache>
            </c:numRef>
          </c:val>
        </c:ser>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Reliability diagram, GRU</a:t>
            </a:r>
          </a:p>
        </c:rich>
      </c:tx>
      <c:layout/>
      <c:overlay val="0"/>
    </c:title>
    <c:autoTitleDeleted val="0"/>
    <c:plotArea>
      <c:layout/>
      <c:scatterChart>
        <c:scatterStyle val="lineMarker"/>
        <c:varyColors val="0"/>
        <c:ser>
          <c:idx val="0"/>
          <c:order val="0"/>
          <c:tx>
            <c:strRef>
              <c:f>Sheet1!$B$1</c:f>
              <c:strCache>
                <c:ptCount val="1"/>
                <c:pt idx="0">
                  <c:v>Perfect calibration</c:v>
                </c:pt>
              </c:strCache>
            </c:strRef>
          </c:tx>
          <c:spPr>
            <a:solidFill>
              <a:srgbClr val="CBD5E1"/>
            </a:solidFill>
            <a:ln w="25400" cap="flat">
              <a:solidFill>
                <a:srgbClr val="CBD5E1"/>
              </a:solidFill>
              <a:prstDash val="solid"/>
              <a:round/>
            </a:ln>
            <a:effectLst/>
          </c:spPr>
          <c:marker>
            <c:symbol val="circle"/>
            <c:size val="6"/>
            <c:spPr>
              <a:solidFill>
                <a:srgbClr val="CBD5E1"/>
              </a:solidFill>
              <a:ln w="9525" cap="flat">
                <a:solidFill>
                  <a:srgbClr val="CBD5E1"/>
                </a:solidFill>
                <a:prstDash val="solid"/>
                <a:round/>
              </a:ln>
              <a:effectLst/>
            </c:spPr>
          </c:marker>
          <c:xVal>
            <c:numRef>
              <c:f>Sheet1!$A$2:$A$17</c:f>
              <c:numCache>
                <c:formatCode>General</c:formatCode>
                <c:ptCount val="16"/>
                <c:pt idx="0">
                  <c:v>0</c:v>
                </c:pt>
                <c:pt idx="1">
                  <c:v>1</c:v>
                </c:pt>
                <c:pt idx="2">
                  <c:v>0.3745770435215849</c:v>
                </c:pt>
                <c:pt idx="3">
                  <c:v>0.4434221145324839</c:v>
                </c:pt>
                <c:pt idx="4">
                  <c:v>0.5436974284855742</c:v>
                </c:pt>
                <c:pt idx="5">
                  <c:v>0.6457230334932154</c:v>
                </c:pt>
                <c:pt idx="6">
                  <c:v>0.7385940750439962</c:v>
                </c:pt>
                <c:pt idx="7">
                  <c:v>0.8391640931367874</c:v>
                </c:pt>
                <c:pt idx="8">
                  <c:v>0.9522359172503153</c:v>
                </c:pt>
                <c:pt idx="9">
                  <c:v>0.3732509676752419</c:v>
                </c:pt>
                <c:pt idx="10">
                  <c:v>0.4440127109908403</c:v>
                </c:pt>
                <c:pt idx="11">
                  <c:v>0.541838979781276</c:v>
                </c:pt>
                <c:pt idx="12">
                  <c:v>0.6459983506248993</c:v>
                </c:pt>
                <c:pt idx="13">
                  <c:v>0.7415447185436884</c:v>
                </c:pt>
                <c:pt idx="14">
                  <c:v>0.8434317878314427</c:v>
                </c:pt>
                <c:pt idx="15">
                  <c:v>0.9498377641042074</c:v>
                </c:pt>
              </c:numCache>
            </c:numRef>
          </c:xVal>
          <c:yVal>
            <c:numRef>
              <c:f>Sheet1!$B$2:$B$17</c:f>
              <c:numCache>
                <c:formatCode>General</c:formatCode>
                <c:ptCount val="16"/>
                <c:pt idx="0">
                  <c:v>0</c:v>
                </c:pt>
                <c:pt idx="1">
                  <c:v>1</c:v>
                </c:pt>
                <c:pt idx="2">
                  <c:v/>
                </c:pt>
                <c:pt idx="3">
                  <c:v/>
                </c:pt>
                <c:pt idx="4">
                  <c:v/>
                </c:pt>
                <c:pt idx="5">
                  <c:v/>
                </c:pt>
                <c:pt idx="6">
                  <c:v/>
                </c:pt>
                <c:pt idx="7">
                  <c:v/>
                </c:pt>
                <c:pt idx="8">
                  <c:v/>
                </c:pt>
                <c:pt idx="9">
                  <c:v/>
                </c:pt>
                <c:pt idx="10">
                  <c:v/>
                </c:pt>
                <c:pt idx="11">
                  <c:v/>
                </c:pt>
                <c:pt idx="12">
                  <c:v/>
                </c:pt>
                <c:pt idx="13">
                  <c:v/>
                </c:pt>
                <c:pt idx="14">
                  <c:v/>
                </c:pt>
                <c:pt idx="15">
                  <c:v/>
                </c:pt>
              </c:numCache>
            </c:numRef>
          </c:yVal>
          <c:smooth val="0"/>
        </c:ser>
        <c:ser>
          <c:idx val="1"/>
          <c:order val="1"/>
          <c:tx>
            <c:strRef>
              <c:f>Sheet1!$C$1</c:f>
              <c:strCache>
                <c:ptCount val="1"/>
                <c:pt idx="0">
                  <c:v>GRU raw (ECE 0.032)</c:v>
                </c:pt>
              </c:strCache>
            </c:strRef>
          </c:tx>
          <c:spPr>
            <a:solidFill>
              <a:srgbClr val="64748B"/>
            </a:solidFill>
            <a:ln w="25400" cap="flat">
              <a:solidFill>
                <a:srgbClr val="64748B"/>
              </a:solidFill>
              <a:prstDash val="solid"/>
              <a:round/>
            </a:ln>
            <a:effectLst/>
          </c:spPr>
          <c:marker>
            <c:symbol val="circle"/>
            <c:size val="6"/>
            <c:spPr>
              <a:solidFill>
                <a:srgbClr val="64748B"/>
              </a:solidFill>
              <a:ln w="9525" cap="flat">
                <a:solidFill>
                  <a:srgbClr val="64748B"/>
                </a:solidFill>
                <a:prstDash val="solid"/>
                <a:round/>
              </a:ln>
              <a:effectLst/>
            </c:spPr>
          </c:marker>
          <c:xVal>
            <c:numRef>
              <c:f>Sheet1!$A$2:$A$17</c:f>
              <c:numCache>
                <c:formatCode>General</c:formatCode>
                <c:ptCount val="16"/>
                <c:pt idx="0">
                  <c:v>0</c:v>
                </c:pt>
                <c:pt idx="1">
                  <c:v>1</c:v>
                </c:pt>
                <c:pt idx="2">
                  <c:v>0.3745770435215849</c:v>
                </c:pt>
                <c:pt idx="3">
                  <c:v>0.4434221145324839</c:v>
                </c:pt>
                <c:pt idx="4">
                  <c:v>0.5436974284855742</c:v>
                </c:pt>
                <c:pt idx="5">
                  <c:v>0.6457230334932154</c:v>
                </c:pt>
                <c:pt idx="6">
                  <c:v>0.7385940750439962</c:v>
                </c:pt>
                <c:pt idx="7">
                  <c:v>0.8391640931367874</c:v>
                </c:pt>
                <c:pt idx="8">
                  <c:v>0.9522359172503153</c:v>
                </c:pt>
                <c:pt idx="9">
                  <c:v>0.3732509676752419</c:v>
                </c:pt>
                <c:pt idx="10">
                  <c:v>0.4440127109908403</c:v>
                </c:pt>
                <c:pt idx="11">
                  <c:v>0.541838979781276</c:v>
                </c:pt>
                <c:pt idx="12">
                  <c:v>0.6459983506248993</c:v>
                </c:pt>
                <c:pt idx="13">
                  <c:v>0.7415447185436884</c:v>
                </c:pt>
                <c:pt idx="14">
                  <c:v>0.8434317878314427</c:v>
                </c:pt>
                <c:pt idx="15">
                  <c:v>0.9498377641042074</c:v>
                </c:pt>
              </c:numCache>
            </c:numRef>
          </c:xVal>
          <c:yVal>
            <c:numRef>
              <c:f>Sheet1!$C$2:$C$17</c:f>
              <c:numCache>
                <c:formatCode>General</c:formatCode>
                <c:ptCount val="16"/>
                <c:pt idx="0">
                  <c:v/>
                </c:pt>
                <c:pt idx="1">
                  <c:v/>
                </c:pt>
                <c:pt idx="2">
                  <c:v>0.3409090909090909</c:v>
                </c:pt>
                <c:pt idx="3">
                  <c:v>0.4110854503464203</c:v>
                </c:pt>
                <c:pt idx="4">
                  <c:v>0.547945205479452</c:v>
                </c:pt>
                <c:pt idx="5">
                  <c:v>0.5818181818181818</c:v>
                </c:pt>
                <c:pt idx="6">
                  <c:v>0.6666666666666666</c:v>
                </c:pt>
                <c:pt idx="7">
                  <c:v>0.875</c:v>
                </c:pt>
                <c:pt idx="8">
                  <c:v>1</c:v>
                </c:pt>
                <c:pt idx="9">
                  <c:v/>
                </c:pt>
                <c:pt idx="10">
                  <c:v/>
                </c:pt>
                <c:pt idx="11">
                  <c:v/>
                </c:pt>
                <c:pt idx="12">
                  <c:v/>
                </c:pt>
                <c:pt idx="13">
                  <c:v/>
                </c:pt>
                <c:pt idx="14">
                  <c:v/>
                </c:pt>
                <c:pt idx="15">
                  <c:v/>
                </c:pt>
              </c:numCache>
            </c:numRef>
          </c:yVal>
          <c:smooth val="0"/>
        </c:ser>
        <c:ser>
          <c:idx val="2"/>
          <c:order val="2"/>
          <c:tx>
            <c:strRef>
              <c:f>Sheet1!$D$1</c:f>
              <c:strCache>
                <c:ptCount val="1"/>
                <c:pt idx="0">
                  <c:v>GRU + temperature (ECE 0.024)</c:v>
                </c:pt>
              </c:strCache>
            </c:strRef>
          </c:tx>
          <c:spPr>
            <a:solidFill>
              <a:srgbClr val="F59E0B"/>
            </a:solidFill>
            <a:ln w="25400" cap="flat">
              <a:solidFill>
                <a:srgbClr val="F59E0B"/>
              </a:solidFill>
              <a:prstDash val="solid"/>
              <a:round/>
            </a:ln>
            <a:effectLst/>
          </c:spPr>
          <c:marker>
            <c:symbol val="circle"/>
            <c:size val="6"/>
            <c:spPr>
              <a:solidFill>
                <a:srgbClr val="F59E0B"/>
              </a:solidFill>
              <a:ln w="9525" cap="flat">
                <a:solidFill>
                  <a:srgbClr val="F59E0B"/>
                </a:solidFill>
                <a:prstDash val="solid"/>
                <a:round/>
              </a:ln>
              <a:effectLst/>
            </c:spPr>
          </c:marker>
          <c:xVal>
            <c:numRef>
              <c:f>Sheet1!$A$2:$A$17</c:f>
              <c:numCache>
                <c:formatCode>General</c:formatCode>
                <c:ptCount val="16"/>
                <c:pt idx="0">
                  <c:v>0</c:v>
                </c:pt>
                <c:pt idx="1">
                  <c:v>1</c:v>
                </c:pt>
                <c:pt idx="2">
                  <c:v>0.3745770435215849</c:v>
                </c:pt>
                <c:pt idx="3">
                  <c:v>0.4434221145324839</c:v>
                </c:pt>
                <c:pt idx="4">
                  <c:v>0.5436974284855742</c:v>
                </c:pt>
                <c:pt idx="5">
                  <c:v>0.6457230334932154</c:v>
                </c:pt>
                <c:pt idx="6">
                  <c:v>0.7385940750439962</c:v>
                </c:pt>
                <c:pt idx="7">
                  <c:v>0.8391640931367874</c:v>
                </c:pt>
                <c:pt idx="8">
                  <c:v>0.9522359172503153</c:v>
                </c:pt>
                <c:pt idx="9">
                  <c:v>0.3732509676752419</c:v>
                </c:pt>
                <c:pt idx="10">
                  <c:v>0.4440127109908403</c:v>
                </c:pt>
                <c:pt idx="11">
                  <c:v>0.541838979781276</c:v>
                </c:pt>
                <c:pt idx="12">
                  <c:v>0.6459983506248993</c:v>
                </c:pt>
                <c:pt idx="13">
                  <c:v>0.7415447185436884</c:v>
                </c:pt>
                <c:pt idx="14">
                  <c:v>0.8434317878314427</c:v>
                </c:pt>
                <c:pt idx="15">
                  <c:v>0.9498377641042074</c:v>
                </c:pt>
              </c:numCache>
            </c:numRef>
          </c:xVal>
          <c:yVal>
            <c:numRef>
              <c:f>Sheet1!$D$2:$D$17</c:f>
              <c:numCache>
                <c:formatCode>General</c:formatCode>
                <c:ptCount val="16"/>
                <c:pt idx="0">
                  <c:v/>
                </c:pt>
                <c:pt idx="1">
                  <c:v/>
                </c:pt>
                <c:pt idx="2">
                  <c:v/>
                </c:pt>
                <c:pt idx="3">
                  <c:v/>
                </c:pt>
                <c:pt idx="4">
                  <c:v/>
                </c:pt>
                <c:pt idx="5">
                  <c:v/>
                </c:pt>
                <c:pt idx="6">
                  <c:v/>
                </c:pt>
                <c:pt idx="7">
                  <c:v/>
                </c:pt>
                <c:pt idx="8">
                  <c:v/>
                </c:pt>
                <c:pt idx="9">
                  <c:v>0.33793103448275863</c:v>
                </c:pt>
                <c:pt idx="10">
                  <c:v>0.4302059496567506</c:v>
                </c:pt>
                <c:pt idx="11">
                  <c:v>0.5454545454545454</c:v>
                </c:pt>
                <c:pt idx="12">
                  <c:v>0.5825242718446602</c:v>
                </c:pt>
                <c:pt idx="13">
                  <c:v>0.6944444444444444</c:v>
                </c:pt>
                <c:pt idx="14">
                  <c:v>0.7857142857142857</c:v>
                </c:pt>
                <c:pt idx="15">
                  <c:v>1</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9525"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Stated confidence</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majorUnit val="0.25"/>
      </c:valAx>
      <c:valAx>
        <c:axId val="2094734552"/>
        <c:scaling>
          <c:orientation val="minMax"/>
          <c:max val="1"/>
          <c:min val="0"/>
        </c:scaling>
        <c:delete val="0"/>
        <c:axPos val="l"/>
        <c:majorGridlines>
          <c:spPr>
            <a:ln w="9525"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Observed accuracy</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midCat"/>
        <c:majorUnit val="0.25"/>
      </c:valAx>
      <c:spPr>
        <a:noFill/>
        <a:ln>
          <a:noFill/>
        </a:ln>
        <a:effectLst/>
      </c:spPr>
    </c:plotArea>
    <c:legend>
      <c:legendPos val="b"/>
      <c:overlay val="0"/>
      <c:txPr>
        <a:bodyPr/>
        <a:lstStyle/>
        <a:p>
          <a:pPr>
            <a:defRPr sz="1100">
              <a:solidFill>
                <a:srgbClr val="0F17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Clip accuracy, gradient boosting (all features 44.6%, chance 33%)</a:t>
            </a:r>
          </a:p>
        </c:rich>
      </c:tx>
      <c:layout/>
      <c:overlay val="0"/>
    </c:title>
    <c:autoTitleDeleted val="0"/>
    <c:plotArea>
      <c:layout/>
      <c:barChart>
        <c:barDir val="col"/>
        <c:grouping val="clustered"/>
        <c:varyColors val="0"/>
        <c:ser>
          <c:idx val="0"/>
          <c:order val="0"/>
          <c:tx>
            <c:strRef>
              <c:f>Sheet1!$B$1</c:f>
              <c:strCache>
                <c:ptCount val="1"/>
                <c:pt idx="0">
                  <c:v>Only this group</c:v>
                </c:pt>
              </c:strCache>
            </c:strRef>
          </c:tx>
          <c:spPr>
            <a:solidFill>
              <a:srgbClr val="F59E0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Eyes</c:v>
                  </c:pt>
                  <c:pt idx="1">
                    <c:v>Mouth</c:v>
                  </c:pt>
                  <c:pt idx="2">
                    <c:v>Head pose</c:v>
                  </c:pt>
                  <c:pt idx="3">
                    <c:v>Gaze + brow</c:v>
                  </c:pt>
                </c:lvl>
              </c:multiLvlStrCache>
            </c:multiLvlStrRef>
          </c:cat>
          <c:val>
            <c:numRef>
              <c:f>Sheet1!$B$2:$B$5</c:f>
              <c:numCache>
                <c:formatCode>General</c:formatCode>
                <c:ptCount val="4"/>
                <c:pt idx="0">
                  <c:v>0.45170193192272307</c:v>
                </c:pt>
                <c:pt idx="1">
                  <c:v>0.30818767249310025</c:v>
                </c:pt>
                <c:pt idx="2">
                  <c:v>0.3330266789328427</c:v>
                </c:pt>
                <c:pt idx="3">
                  <c:v>0.3265869365225391</c:v>
                </c:pt>
              </c:numCache>
            </c:numRef>
          </c:val>
        </c:ser>
        <c:ser>
          <c:idx val="1"/>
          <c:order val="1"/>
          <c:tx>
            <c:strRef>
              <c:f>Sheet1!$C$1</c:f>
              <c:strCache>
                <c:ptCount val="1"/>
                <c:pt idx="0">
                  <c:v>All but this group</c:v>
                </c:pt>
              </c:strCache>
            </c:strRef>
          </c:tx>
          <c:spPr>
            <a:solidFill>
              <a:srgbClr val="CBD5E1"/>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Eyes</c:v>
                  </c:pt>
                  <c:pt idx="1">
                    <c:v>Mouth</c:v>
                  </c:pt>
                  <c:pt idx="2">
                    <c:v>Head pose</c:v>
                  </c:pt>
                  <c:pt idx="3">
                    <c:v>Gaze + brow</c:v>
                  </c:pt>
                </c:lvl>
              </c:multiLvlStrCache>
            </c:multiLvlStrRef>
          </c:cat>
          <c:val>
            <c:numRef>
              <c:f>Sheet1!$C$2:$C$5</c:f>
              <c:numCache>
                <c:formatCode>General</c:formatCode>
                <c:ptCount val="4"/>
                <c:pt idx="0">
                  <c:v>0.3422263109475621</c:v>
                </c:pt>
                <c:pt idx="1">
                  <c:v>0.43974241030358785</c:v>
                </c:pt>
                <c:pt idx="2">
                  <c:v>0.45170193192272307</c:v>
                </c:pt>
                <c:pt idx="3">
                  <c:v>0.4139834406623735</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browser app that watches the driver's face on-device and warns on drowsiness or distraction, with two neural networks trained and evaluated on public data from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drowsiness and distraction are temporal states visible on the face seconds before a crash, and regulators now mandate camera-based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Highlight the amber step: the two networks trained in this project. Stress privacy: there is no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could not record people myself, so everything is evaluated on public datasets with real participants. The rule throughout: nobody appears in both training and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matters: offline numbers are only meaningful for the app if the same code produces them. Parity tests enforce this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engineering lesson. Without real labelled data this bug would never have been found. The tuned bar is cross-validated: every driver is scored with a threshold chosen on the other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CNN clearly beats a pixel baseline and matches the 4x larger network. int8 quantisation costs almost nothing. The MRL result shows it transfers to infrared images it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honest: all detectors are excellent head-on and statistically tied. Do not oversell the CNN here; its strength is robustness and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is our best model; teal and grey are the numbers published with the dataset. We are below the published HM-LSTM, which uses whole videos. Say this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 highlight. The first experiment looked like a big win. Before shipping it we asked what else a carried-over baseline could encode: camera placement. Controlling for it removed most of the gain, so the feature was not shipped. Catching your own confound is what good ML practice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where the best model's errors fall. Right: a risk score is acted on, so its confidence must mean what it says. ECE 0.032 raw, 0.024 after temperature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answers which signals matter for new people. Read the orange bars as 'how far this group gets alone' and the grey bars as 'what is left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Event-level evaluation is what a driver experiences. Blinks are detected well. Yawn recall is low because many DMD yawns are covered by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Lab here if time allows: start the camera, blink, close eyes for two seconds, look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limitations is part of doing ML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numbers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3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931920"/>
            <a:ext cx="1024128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3"/>
                </a:solidFill>
              </a:rPr>
              <a:t>Driver Drowsiness &amp; Distraction Detection · ML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B13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Driver Drowsiness &amp; Distraction Detection</a:t>
            </a:r>
            <a:endParaRPr lang="en-US" sz="4400" dirty="0"/>
          </a:p>
        </p:txBody>
      </p:sp>
      <p:sp>
        <p:nvSpPr>
          <p:cNvPr id="3" name="Text 0"/>
          <p:cNvSpPr/>
          <p:nvPr>
            <p:ph idx="101" type="body" hasCustomPrompt="1"/>
          </p:nvPr>
        </p:nvSpPr>
        <p:spPr>
          <a:xfrm>
            <a:off x="731520" y="3931920"/>
            <a:ext cx="10241280" cy="1097280"/>
          </a:xfrm>
          <a:prstGeom prst="rect">
            <a:avLst/>
          </a:prstGeom>
          <a:noFill/>
          <a:ln/>
        </p:spPr>
        <p:txBody>
          <a:bodyPr wrap="square" rtlCol="0" anchor="t"/>
          <a:lstStyle/>
          <a:p>
            <a:pPr algn="l" indent="0" marL="0">
              <a:buNone/>
            </a:pPr>
            <a:r>
              <a:rPr lang="en-US" sz="1800" dirty="0">
                <a:solidFill>
                  <a:schemeClr val="accent6"/>
                </a:solidFill>
              </a:rPr>
              <a:t>Detecting drowsy and distracted drivers in the browser, on-device. Evaluated on 89 real people from three public datasets</a:t>
            </a:r>
            <a:endParaRPr lang="en-US" sz="1800" dirty="0"/>
          </a:p>
          <a:p>
            <a:pPr algn="l" indent="0" marL="0">
              <a:buNone/>
            </a:pPr>
            <a:r>
              <a:rPr lang="en-US" sz="1800" dirty="0">
                <a:solidFill>
                  <a:schemeClr val="accent6"/>
                </a:solidFill>
              </a:rPr>
              <a:t>Arnav Dugad &amp; Sujal Kumar · ML Mini Project · Manipal Institute of Technology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Fatigue and distraction kill thousands a year, and the law now requires warnings</a:t>
            </a:r>
            <a:endParaRPr lang="en-US" sz="2800" dirty="0"/>
          </a:p>
        </p:txBody>
      </p:sp>
      <p:sp>
        <p:nvSpPr>
          <p:cNvPr id="3" name="problem-card-0"/>
          <p:cNvSpPr/>
          <p:nvPr/>
        </p:nvSpPr>
        <p:spPr>
          <a:xfrm>
            <a:off x="548640" y="1600200"/>
            <a:ext cx="3474720" cy="2377440"/>
          </a:xfrm>
          <a:prstGeom prst="roundRect">
            <a:avLst>
              <a:gd name="adj" fmla="val 4615"/>
            </a:avLst>
          </a:prstGeom>
          <a:solidFill>
            <a:schemeClr val="bg2"/>
          </a:solidFill>
          <a:ln w="9525">
            <a:solidFill>
              <a:schemeClr val="bg2"/>
            </a:solidFill>
            <a:prstDash val="solid"/>
          </a:ln>
        </p:spPr>
      </p:sp>
      <p:sp>
        <p:nvSpPr>
          <p:cNvPr id="4" name="Text 2"/>
          <p:cNvSpPr txBox="1"/>
          <p:nvPr/>
        </p:nvSpPr>
        <p:spPr>
          <a:xfrm>
            <a:off x="822960" y="1828800"/>
            <a:ext cx="30175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3,208</a:t>
            </a:r>
            <a:endParaRPr lang="en-US" sz="4400" dirty="0"/>
          </a:p>
        </p:txBody>
      </p:sp>
      <p:sp>
        <p:nvSpPr>
          <p:cNvPr id="5" name="Text 3"/>
          <p:cNvSpPr txBox="1"/>
          <p:nvPr/>
        </p:nvSpPr>
        <p:spPr>
          <a:xfrm>
            <a:off x="822960" y="2670048"/>
            <a:ext cx="3017520" cy="640080"/>
          </a:xfrm>
          <a:prstGeom prst="rect">
            <a:avLst/>
          </a:prstGeom>
          <a:noFill/>
          <a:ln/>
        </p:spPr>
        <p:txBody>
          <a:bodyPr wrap="square" lIns="0" tIns="0" rIns="0" bIns="0" rtlCol="0" anchor="t"/>
          <a:lstStyle/>
          <a:p>
            <a:pPr indent="0" marL="0">
              <a:buNone/>
            </a:pPr>
            <a:r>
              <a:rPr lang="en-US" sz="1300" dirty="0">
                <a:solidFill>
                  <a:schemeClr val="accent3"/>
                </a:solidFill>
              </a:rPr>
              <a:t>people killed in US crashes involving distracted drivers, 2024 (NHTSA)</a:t>
            </a:r>
            <a:endParaRPr lang="en-US" sz="1300" dirty="0"/>
          </a:p>
        </p:txBody>
      </p:sp>
      <p:sp>
        <p:nvSpPr>
          <p:cNvPr id="6" name="problem-card-1"/>
          <p:cNvSpPr/>
          <p:nvPr/>
        </p:nvSpPr>
        <p:spPr>
          <a:xfrm>
            <a:off x="4297680" y="1600200"/>
            <a:ext cx="3474720" cy="2377440"/>
          </a:xfrm>
          <a:prstGeom prst="roundRect">
            <a:avLst>
              <a:gd name="adj" fmla="val 4615"/>
            </a:avLst>
          </a:prstGeom>
          <a:solidFill>
            <a:schemeClr val="bg2"/>
          </a:solidFill>
          <a:ln w="9525">
            <a:solidFill>
              <a:schemeClr val="bg2"/>
            </a:solidFill>
            <a:prstDash val="solid"/>
          </a:ln>
        </p:spPr>
      </p:sp>
      <p:sp>
        <p:nvSpPr>
          <p:cNvPr id="7" name="Text 5"/>
          <p:cNvSpPr txBox="1"/>
          <p:nvPr/>
        </p:nvSpPr>
        <p:spPr>
          <a:xfrm>
            <a:off x="4572000" y="1828800"/>
            <a:ext cx="30175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633</a:t>
            </a:r>
            <a:endParaRPr lang="en-US" sz="4400" dirty="0"/>
          </a:p>
        </p:txBody>
      </p:sp>
      <p:sp>
        <p:nvSpPr>
          <p:cNvPr id="8" name="Text 6"/>
          <p:cNvSpPr txBox="1"/>
          <p:nvPr/>
        </p:nvSpPr>
        <p:spPr>
          <a:xfrm>
            <a:off x="4572000" y="2670048"/>
            <a:ext cx="3017520" cy="640080"/>
          </a:xfrm>
          <a:prstGeom prst="rect">
            <a:avLst/>
          </a:prstGeom>
          <a:noFill/>
          <a:ln/>
        </p:spPr>
        <p:txBody>
          <a:bodyPr wrap="square" lIns="0" tIns="0" rIns="0" bIns="0" rtlCol="0" anchor="t"/>
          <a:lstStyle/>
          <a:p>
            <a:pPr indent="0" marL="0">
              <a:buNone/>
            </a:pPr>
            <a:r>
              <a:rPr lang="en-US" sz="1300" dirty="0">
                <a:solidFill>
                  <a:schemeClr val="accent3"/>
                </a:solidFill>
              </a:rPr>
              <a:t>killed in drowsy-driving crashes, 2023 (NHTSA, via GHSA); modelled estimates run ~10x higher</a:t>
            </a:r>
            <a:endParaRPr lang="en-US" sz="1300" dirty="0"/>
          </a:p>
        </p:txBody>
      </p:sp>
      <p:sp>
        <p:nvSpPr>
          <p:cNvPr id="9" name="problem-card-2"/>
          <p:cNvSpPr/>
          <p:nvPr/>
        </p:nvSpPr>
        <p:spPr>
          <a:xfrm>
            <a:off x="8046720" y="1600200"/>
            <a:ext cx="3474720" cy="2377440"/>
          </a:xfrm>
          <a:prstGeom prst="roundRect">
            <a:avLst>
              <a:gd name="adj" fmla="val 4615"/>
            </a:avLst>
          </a:prstGeom>
          <a:solidFill>
            <a:schemeClr val="bg2"/>
          </a:solidFill>
          <a:ln w="9525">
            <a:solidFill>
              <a:schemeClr val="bg2"/>
            </a:solidFill>
            <a:prstDash val="solid"/>
          </a:ln>
        </p:spPr>
      </p:sp>
      <p:sp>
        <p:nvSpPr>
          <p:cNvPr id="10" name="Text 8"/>
          <p:cNvSpPr txBox="1"/>
          <p:nvPr/>
        </p:nvSpPr>
        <p:spPr>
          <a:xfrm>
            <a:off x="8321040" y="1828800"/>
            <a:ext cx="30175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1.19 M</a:t>
            </a:r>
            <a:endParaRPr lang="en-US" sz="4400" dirty="0"/>
          </a:p>
        </p:txBody>
      </p:sp>
      <p:sp>
        <p:nvSpPr>
          <p:cNvPr id="11" name="Text 9"/>
          <p:cNvSpPr txBox="1"/>
          <p:nvPr/>
        </p:nvSpPr>
        <p:spPr>
          <a:xfrm>
            <a:off x="8321040" y="2670048"/>
            <a:ext cx="3017520" cy="640080"/>
          </a:xfrm>
          <a:prstGeom prst="rect">
            <a:avLst/>
          </a:prstGeom>
          <a:noFill/>
          <a:ln/>
        </p:spPr>
        <p:txBody>
          <a:bodyPr wrap="square" lIns="0" tIns="0" rIns="0" bIns="0" rtlCol="0" anchor="t"/>
          <a:lstStyle/>
          <a:p>
            <a:pPr indent="0" marL="0">
              <a:buNone/>
            </a:pPr>
            <a:r>
              <a:rPr lang="en-US" sz="1300" dirty="0">
                <a:solidFill>
                  <a:schemeClr val="accent3"/>
                </a:solidFill>
              </a:rPr>
              <a:t>road-traffic deaths worldwide each year (WHO, 2023)</a:t>
            </a:r>
            <a:endParaRPr lang="en-US" sz="1300" dirty="0"/>
          </a:p>
        </p:txBody>
      </p:sp>
      <p:sp>
        <p:nvSpPr>
          <p:cNvPr id="12" name="regulation"/>
          <p:cNvSpPr/>
          <p:nvPr/>
        </p:nvSpPr>
        <p:spPr>
          <a:xfrm>
            <a:off x="548640" y="4343400"/>
            <a:ext cx="11064240" cy="1600200"/>
          </a:xfrm>
          <a:prstGeom prst="roundRect">
            <a:avLst>
              <a:gd name="adj" fmla="val 6857"/>
            </a:avLst>
          </a:prstGeom>
          <a:solidFill>
            <a:srgbClr val="FEF3C7"/>
          </a:solidFill>
          <a:ln w="9525">
            <a:solidFill>
              <a:srgbClr val="FEF3C7"/>
            </a:solidFill>
            <a:prstDash val="solid"/>
          </a:ln>
        </p:spPr>
      </p:sp>
      <p:sp>
        <p:nvSpPr>
          <p:cNvPr id="13" name="Text 11"/>
          <p:cNvSpPr txBox="1"/>
          <p:nvPr/>
        </p:nvSpPr>
        <p:spPr>
          <a:xfrm>
            <a:off x="868680" y="4526280"/>
            <a:ext cx="5486400" cy="365760"/>
          </a:xfrm>
          <a:prstGeom prst="rect">
            <a:avLst/>
          </a:prstGeom>
          <a:noFill/>
          <a:ln/>
        </p:spPr>
        <p:txBody>
          <a:bodyPr wrap="square" lIns="0" tIns="0" rIns="0" bIns="0" rtlCol="0" anchor="ctr"/>
          <a:lstStyle/>
          <a:p>
            <a:pPr indent="0" marL="0">
              <a:buNone/>
            </a:pPr>
            <a:r>
              <a:rPr lang="en-US" sz="1600" b="1" dirty="0">
                <a:solidFill>
                  <a:schemeClr val="tx1"/>
                </a:solidFill>
              </a:rPr>
              <a:t>EU Regulation 2019/2144</a:t>
            </a:r>
            <a:endParaRPr lang="en-US" sz="1600" dirty="0"/>
          </a:p>
        </p:txBody>
      </p:sp>
      <p:sp>
        <p:nvSpPr>
          <p:cNvPr id="14" name="Text 12"/>
          <p:cNvSpPr txBox="1"/>
          <p:nvPr/>
        </p:nvSpPr>
        <p:spPr>
          <a:xfrm>
            <a:off x="868680" y="4937760"/>
            <a:ext cx="10424160" cy="868680"/>
          </a:xfrm>
          <a:prstGeom prst="rect">
            <a:avLst/>
          </a:prstGeom>
          <a:noFill/>
          <a:ln/>
        </p:spPr>
        <p:txBody>
          <a:bodyPr wrap="square" lIns="0" tIns="0" rIns="0" bIns="0" rtlCol="0" anchor="ctr"/>
          <a:lstStyle/>
          <a:p>
            <a:pPr indent="0" marL="0">
              <a:buNone/>
            </a:pPr>
            <a:r>
              <a:rPr lang="en-US" sz="1500" dirty="0">
                <a:solidFill>
                  <a:schemeClr val="tx1"/>
                </a:solidFill>
              </a:rPr>
              <a:t>Driver drowsiness and attention warning has been mandatory on every new EU car since 7 July 2024; advanced distraction warning since 7 July 2026. Both need exactly what this project measures: eye closure, gaze and head pose over time.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One web app: pretrained perception, two models we trained, an explainable rule engine</a:t>
            </a:r>
            <a:endParaRPr lang="en-US" sz="2800" dirty="0"/>
          </a:p>
        </p:txBody>
      </p:sp>
      <p:sp>
        <p:nvSpPr>
          <p:cNvPr id="3" name="pipeline-0"/>
          <p:cNvSpPr/>
          <p:nvPr/>
        </p:nvSpPr>
        <p:spPr>
          <a:xfrm>
            <a:off x="548640" y="1737360"/>
            <a:ext cx="2066544" cy="3291840"/>
          </a:xfrm>
          <a:prstGeom prst="roundRect">
            <a:avLst>
              <a:gd name="adj" fmla="val 5310"/>
            </a:avLst>
          </a:prstGeom>
          <a:solidFill>
            <a:schemeClr val="bg2"/>
          </a:solidFill>
          <a:ln w="9525">
            <a:solidFill>
              <a:schemeClr val="bg2"/>
            </a:solidFill>
            <a:prstDash val="solid"/>
          </a:ln>
        </p:spPr>
      </p:sp>
      <p:sp>
        <p:nvSpPr>
          <p:cNvPr id="4" name="pipeline-dot-0"/>
          <p:cNvSpPr/>
          <p:nvPr/>
        </p:nvSpPr>
        <p:spPr>
          <a:xfrm>
            <a:off x="777240" y="1965960"/>
            <a:ext cx="502920" cy="502920"/>
          </a:xfrm>
          <a:prstGeom prst="ellipse">
            <a:avLst/>
          </a:prstGeom>
          <a:solidFill>
            <a:schemeClr val="tx1"/>
          </a:solidFill>
          <a:ln w="12700">
            <a:solidFill>
              <a:schemeClr val="tx1"/>
            </a:solidFill>
            <a:prstDash val="solid"/>
          </a:ln>
        </p:spPr>
      </p:sp>
      <p:sp>
        <p:nvSpPr>
          <p:cNvPr id="5" name="Text 3"/>
          <p:cNvSpPr txBox="1"/>
          <p:nvPr/>
        </p:nvSpPr>
        <p:spPr>
          <a:xfrm>
            <a:off x="77724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77240" y="2651760"/>
            <a:ext cx="1737360"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Perceive</a:t>
            </a:r>
            <a:endParaRPr lang="en-US" sz="1900" dirty="0"/>
          </a:p>
        </p:txBody>
      </p:sp>
      <p:sp>
        <p:nvSpPr>
          <p:cNvPr id="7" name="Text 5"/>
          <p:cNvSpPr txBox="1"/>
          <p:nvPr/>
        </p:nvSpPr>
        <p:spPr>
          <a:xfrm>
            <a:off x="777240" y="3108960"/>
            <a:ext cx="1691640" cy="1828800"/>
          </a:xfrm>
          <a:prstGeom prst="rect">
            <a:avLst/>
          </a:prstGeom>
          <a:noFill/>
          <a:ln/>
        </p:spPr>
        <p:txBody>
          <a:bodyPr wrap="square" lIns="0" tIns="0" rIns="0" bIns="0" rtlCol="0" anchor="t"/>
          <a:lstStyle/>
          <a:p>
            <a:pPr indent="0" marL="0">
              <a:buNone/>
            </a:pPr>
            <a:r>
              <a:rPr lang="en-US" sz="1300" dirty="0">
                <a:solidFill>
                  <a:schemeClr val="tx1"/>
                </a:solidFill>
              </a:rPr>
              <a:t>MediaPipe Face Landmarker: 478 landmarks, 52 blendshapes, head-pose matrix. EfficientDet-Lite0 for phones.</a:t>
            </a:r>
            <a:endParaRPr lang="en-US" sz="1300" dirty="0"/>
          </a:p>
        </p:txBody>
      </p:sp>
      <p:sp>
        <p:nvSpPr>
          <p:cNvPr id="8" name="pipeline-arrow-0"/>
          <p:cNvSpPr/>
          <p:nvPr/>
        </p:nvSpPr>
        <p:spPr>
          <a:xfrm>
            <a:off x="2642616" y="3246120"/>
            <a:ext cx="128016" cy="274320"/>
          </a:xfrm>
          <a:prstGeom prst="rtTriangle">
            <a:avLst/>
          </a:prstGeom>
          <a:solidFill>
            <a:schemeClr val="accent6"/>
          </a:solidFill>
          <a:ln w="12700">
            <a:solidFill>
              <a:schemeClr val="accent6"/>
            </a:solidFill>
            <a:prstDash val="solid"/>
          </a:ln>
        </p:spPr>
      </p:sp>
      <p:sp>
        <p:nvSpPr>
          <p:cNvPr id="9" name="pipeline-1"/>
          <p:cNvSpPr/>
          <p:nvPr/>
        </p:nvSpPr>
        <p:spPr>
          <a:xfrm>
            <a:off x="2798064" y="1737360"/>
            <a:ext cx="2066544" cy="3291840"/>
          </a:xfrm>
          <a:prstGeom prst="roundRect">
            <a:avLst>
              <a:gd name="adj" fmla="val 5310"/>
            </a:avLst>
          </a:prstGeom>
          <a:solidFill>
            <a:schemeClr val="bg2"/>
          </a:solidFill>
          <a:ln w="9525">
            <a:solidFill>
              <a:schemeClr val="bg2"/>
            </a:solidFill>
            <a:prstDash val="solid"/>
          </a:ln>
        </p:spPr>
      </p:sp>
      <p:sp>
        <p:nvSpPr>
          <p:cNvPr id="10" name="pipeline-dot-1"/>
          <p:cNvSpPr/>
          <p:nvPr/>
        </p:nvSpPr>
        <p:spPr>
          <a:xfrm>
            <a:off x="3026664" y="1965960"/>
            <a:ext cx="502920" cy="502920"/>
          </a:xfrm>
          <a:prstGeom prst="ellipse">
            <a:avLst/>
          </a:prstGeom>
          <a:solidFill>
            <a:schemeClr val="tx1"/>
          </a:solidFill>
          <a:ln w="12700">
            <a:solidFill>
              <a:schemeClr val="tx1"/>
            </a:solidFill>
            <a:prstDash val="solid"/>
          </a:ln>
        </p:spPr>
      </p:sp>
      <p:sp>
        <p:nvSpPr>
          <p:cNvPr id="11" name="Text 9"/>
          <p:cNvSpPr txBox="1"/>
          <p:nvPr/>
        </p:nvSpPr>
        <p:spPr>
          <a:xfrm>
            <a:off x="3026664"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3026664" y="2651760"/>
            <a:ext cx="1737360"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Measure</a:t>
            </a:r>
            <a:endParaRPr lang="en-US" sz="1900" dirty="0"/>
          </a:p>
        </p:txBody>
      </p:sp>
      <p:sp>
        <p:nvSpPr>
          <p:cNvPr id="13" name="Text 11"/>
          <p:cNvSpPr txBox="1"/>
          <p:nvPr/>
        </p:nvSpPr>
        <p:spPr>
          <a:xfrm>
            <a:off x="3026664" y="3108960"/>
            <a:ext cx="1691640" cy="1828800"/>
          </a:xfrm>
          <a:prstGeom prst="rect">
            <a:avLst/>
          </a:prstGeom>
          <a:noFill/>
          <a:ln/>
        </p:spPr>
        <p:txBody>
          <a:bodyPr wrap="square" lIns="0" tIns="0" rIns="0" bIns="0" rtlCol="0" anchor="t"/>
          <a:lstStyle/>
          <a:p>
            <a:pPr indent="0" marL="0">
              <a:buNone/>
            </a:pPr>
            <a:r>
              <a:rPr lang="en-US" sz="1300" dirty="0">
                <a:solidFill>
                  <a:schemeClr val="tx1"/>
                </a:solidFill>
              </a:rPr>
              <a:t>EAR, MAR, iris gaze, yaw/pitch/roll, aspect-corrected; personal 5-second calibration.</a:t>
            </a:r>
            <a:endParaRPr lang="en-US" sz="1300" dirty="0"/>
          </a:p>
        </p:txBody>
      </p:sp>
      <p:sp>
        <p:nvSpPr>
          <p:cNvPr id="14" name="pipeline-arrow-1"/>
          <p:cNvSpPr/>
          <p:nvPr/>
        </p:nvSpPr>
        <p:spPr>
          <a:xfrm>
            <a:off x="4892040" y="3246120"/>
            <a:ext cx="128016" cy="274320"/>
          </a:xfrm>
          <a:prstGeom prst="rtTriangle">
            <a:avLst/>
          </a:prstGeom>
          <a:solidFill>
            <a:schemeClr val="accent6"/>
          </a:solidFill>
          <a:ln w="12700">
            <a:solidFill>
              <a:schemeClr val="accent6"/>
            </a:solidFill>
            <a:prstDash val="solid"/>
          </a:ln>
        </p:spPr>
      </p:sp>
      <p:sp>
        <p:nvSpPr>
          <p:cNvPr id="15" name="pipeline-2"/>
          <p:cNvSpPr/>
          <p:nvPr/>
        </p:nvSpPr>
        <p:spPr>
          <a:xfrm>
            <a:off x="5047488" y="1737360"/>
            <a:ext cx="2066544" cy="3291840"/>
          </a:xfrm>
          <a:prstGeom prst="roundRect">
            <a:avLst>
              <a:gd name="adj" fmla="val 5310"/>
            </a:avLst>
          </a:prstGeom>
          <a:solidFill>
            <a:srgbClr val="FEF3C7"/>
          </a:solidFill>
          <a:ln w="9525">
            <a:solidFill>
              <a:srgbClr val="F59E0B"/>
            </a:solidFill>
            <a:prstDash val="solid"/>
          </a:ln>
        </p:spPr>
      </p:sp>
      <p:sp>
        <p:nvSpPr>
          <p:cNvPr id="16" name="pipeline-dot-2"/>
          <p:cNvSpPr/>
          <p:nvPr/>
        </p:nvSpPr>
        <p:spPr>
          <a:xfrm>
            <a:off x="5276088" y="196596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276088"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5276088" y="2651760"/>
            <a:ext cx="1737360"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Learn</a:t>
            </a:r>
            <a:endParaRPr lang="en-US" sz="1900" dirty="0"/>
          </a:p>
        </p:txBody>
      </p:sp>
      <p:sp>
        <p:nvSpPr>
          <p:cNvPr id="19" name="Text 17"/>
          <p:cNvSpPr txBox="1"/>
          <p:nvPr/>
        </p:nvSpPr>
        <p:spPr>
          <a:xfrm>
            <a:off x="5276088" y="3108960"/>
            <a:ext cx="1691640" cy="1828800"/>
          </a:xfrm>
          <a:prstGeom prst="rect">
            <a:avLst/>
          </a:prstGeom>
          <a:noFill/>
          <a:ln/>
        </p:spPr>
        <p:txBody>
          <a:bodyPr wrap="square" lIns="0" tIns="0" rIns="0" bIns="0" rtlCol="0" anchor="t"/>
          <a:lstStyle/>
          <a:p>
            <a:pPr indent="0" marL="0">
              <a:buNone/>
            </a:pPr>
            <a:r>
              <a:rPr lang="en-US" sz="1300" dirty="0">
                <a:solidFill>
                  <a:schemeClr val="tx1"/>
                </a:solidFill>
              </a:rPr>
              <a:t>EyeNet CNN (15,290 params, int8) on eye crops; GRU over 30 s of 14 signals.</a:t>
            </a:r>
            <a:endParaRPr lang="en-US" sz="1300" dirty="0"/>
          </a:p>
        </p:txBody>
      </p:sp>
      <p:sp>
        <p:nvSpPr>
          <p:cNvPr id="20" name="pipeline-arrow-2"/>
          <p:cNvSpPr/>
          <p:nvPr/>
        </p:nvSpPr>
        <p:spPr>
          <a:xfrm>
            <a:off x="7141464" y="3246120"/>
            <a:ext cx="128016" cy="274320"/>
          </a:xfrm>
          <a:prstGeom prst="rtTriangle">
            <a:avLst/>
          </a:prstGeom>
          <a:solidFill>
            <a:schemeClr val="accent6"/>
          </a:solidFill>
          <a:ln w="12700">
            <a:solidFill>
              <a:schemeClr val="accent6"/>
            </a:solidFill>
            <a:prstDash val="solid"/>
          </a:ln>
        </p:spPr>
      </p:sp>
      <p:sp>
        <p:nvSpPr>
          <p:cNvPr id="21" name="pipeline-3"/>
          <p:cNvSpPr/>
          <p:nvPr/>
        </p:nvSpPr>
        <p:spPr>
          <a:xfrm>
            <a:off x="7296912" y="1737360"/>
            <a:ext cx="2066544" cy="3291840"/>
          </a:xfrm>
          <a:prstGeom prst="roundRect">
            <a:avLst>
              <a:gd name="adj" fmla="val 5310"/>
            </a:avLst>
          </a:prstGeom>
          <a:solidFill>
            <a:schemeClr val="bg2"/>
          </a:solidFill>
          <a:ln w="9525">
            <a:solidFill>
              <a:schemeClr val="bg2"/>
            </a:solidFill>
            <a:prstDash val="solid"/>
          </a:ln>
        </p:spPr>
      </p:sp>
      <p:sp>
        <p:nvSpPr>
          <p:cNvPr id="22" name="pipeline-dot-3"/>
          <p:cNvSpPr/>
          <p:nvPr/>
        </p:nvSpPr>
        <p:spPr>
          <a:xfrm>
            <a:off x="7525512" y="1965960"/>
            <a:ext cx="502920" cy="502920"/>
          </a:xfrm>
          <a:prstGeom prst="ellipse">
            <a:avLst/>
          </a:prstGeom>
          <a:solidFill>
            <a:schemeClr val="tx1"/>
          </a:solidFill>
          <a:ln w="12700">
            <a:solidFill>
              <a:schemeClr val="tx1"/>
            </a:solidFill>
            <a:prstDash val="solid"/>
          </a:ln>
        </p:spPr>
      </p:sp>
      <p:sp>
        <p:nvSpPr>
          <p:cNvPr id="23" name="Text 21"/>
          <p:cNvSpPr txBox="1"/>
          <p:nvPr/>
        </p:nvSpPr>
        <p:spPr>
          <a:xfrm>
            <a:off x="7525512"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7525512" y="2651760"/>
            <a:ext cx="1737360"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Decide</a:t>
            </a:r>
            <a:endParaRPr lang="en-US" sz="1900" dirty="0"/>
          </a:p>
        </p:txBody>
      </p:sp>
      <p:sp>
        <p:nvSpPr>
          <p:cNvPr id="25" name="Text 23"/>
          <p:cNvSpPr txBox="1"/>
          <p:nvPr/>
        </p:nvSpPr>
        <p:spPr>
          <a:xfrm>
            <a:off x="7525512" y="3108960"/>
            <a:ext cx="1691640" cy="1828800"/>
          </a:xfrm>
          <a:prstGeom prst="rect">
            <a:avLst/>
          </a:prstGeom>
          <a:noFill/>
          <a:ln/>
        </p:spPr>
        <p:txBody>
          <a:bodyPr wrap="square" lIns="0" tIns="0" rIns="0" bIns="0" rtlCol="0" anchor="t"/>
          <a:lstStyle/>
          <a:p>
            <a:pPr indent="0" marL="0">
              <a:buNone/>
            </a:pPr>
            <a:r>
              <a:rPr lang="en-US" sz="1300" dirty="0">
                <a:solidFill>
                  <a:schemeClr val="tx1"/>
                </a:solidFill>
              </a:rPr>
              <a:t>Time-weighted PERCLOS, yawn morphology, persistence and fusion into a 0-100 risk.</a:t>
            </a:r>
            <a:endParaRPr lang="en-US" sz="1300" dirty="0"/>
          </a:p>
        </p:txBody>
      </p:sp>
      <p:sp>
        <p:nvSpPr>
          <p:cNvPr id="26" name="pipeline-arrow-3"/>
          <p:cNvSpPr/>
          <p:nvPr/>
        </p:nvSpPr>
        <p:spPr>
          <a:xfrm>
            <a:off x="9390888" y="3246120"/>
            <a:ext cx="128016" cy="274320"/>
          </a:xfrm>
          <a:prstGeom prst="rtTriangle">
            <a:avLst/>
          </a:prstGeom>
          <a:solidFill>
            <a:schemeClr val="accent6"/>
          </a:solidFill>
          <a:ln w="12700">
            <a:solidFill>
              <a:schemeClr val="accent6"/>
            </a:solidFill>
            <a:prstDash val="solid"/>
          </a:ln>
        </p:spPr>
      </p:sp>
      <p:sp>
        <p:nvSpPr>
          <p:cNvPr id="27" name="pipeline-4"/>
          <p:cNvSpPr/>
          <p:nvPr/>
        </p:nvSpPr>
        <p:spPr>
          <a:xfrm>
            <a:off x="9546336" y="1737360"/>
            <a:ext cx="2066544" cy="3291840"/>
          </a:xfrm>
          <a:prstGeom prst="roundRect">
            <a:avLst>
              <a:gd name="adj" fmla="val 5310"/>
            </a:avLst>
          </a:prstGeom>
          <a:solidFill>
            <a:schemeClr val="bg2"/>
          </a:solidFill>
          <a:ln w="9525">
            <a:solidFill>
              <a:schemeClr val="bg2"/>
            </a:solidFill>
            <a:prstDash val="solid"/>
          </a:ln>
        </p:spPr>
      </p:sp>
      <p:sp>
        <p:nvSpPr>
          <p:cNvPr id="28" name="pipeline-dot-4"/>
          <p:cNvSpPr/>
          <p:nvPr/>
        </p:nvSpPr>
        <p:spPr>
          <a:xfrm>
            <a:off x="9774936" y="1965960"/>
            <a:ext cx="502920" cy="502920"/>
          </a:xfrm>
          <a:prstGeom prst="ellipse">
            <a:avLst/>
          </a:prstGeom>
          <a:solidFill>
            <a:schemeClr val="tx1"/>
          </a:solidFill>
          <a:ln w="12700">
            <a:solidFill>
              <a:schemeClr val="tx1"/>
            </a:solidFill>
            <a:prstDash val="solid"/>
          </a:ln>
        </p:spPr>
      </p:sp>
      <p:sp>
        <p:nvSpPr>
          <p:cNvPr id="29" name="Text 27"/>
          <p:cNvSpPr txBox="1"/>
          <p:nvPr/>
        </p:nvSpPr>
        <p:spPr>
          <a:xfrm>
            <a:off x="9774936"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9774936" y="2651760"/>
            <a:ext cx="1737360"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Warn</a:t>
            </a:r>
            <a:endParaRPr lang="en-US" sz="1900" dirty="0"/>
          </a:p>
        </p:txBody>
      </p:sp>
      <p:sp>
        <p:nvSpPr>
          <p:cNvPr id="31" name="Text 29"/>
          <p:cNvSpPr txBox="1"/>
          <p:nvPr/>
        </p:nvSpPr>
        <p:spPr>
          <a:xfrm>
            <a:off x="9774936" y="3108960"/>
            <a:ext cx="1691640" cy="1828800"/>
          </a:xfrm>
          <a:prstGeom prst="rect">
            <a:avLst/>
          </a:prstGeom>
          <a:noFill/>
          <a:ln/>
        </p:spPr>
        <p:txBody>
          <a:bodyPr wrap="square" lIns="0" tIns="0" rIns="0" bIns="0" rtlCol="0" anchor="t"/>
          <a:lstStyle/>
          <a:p>
            <a:pPr indent="0" marL="0">
              <a:buNone/>
            </a:pPr>
            <a:r>
              <a:rPr lang="en-US" sz="1300" dirty="0">
                <a:solidFill>
                  <a:schemeClr val="tx1"/>
                </a:solidFill>
              </a:rPr>
              <a:t>Voice in 6 languages, haptics, Drive Mode, counterfactual explanations.</a:t>
            </a:r>
            <a:endParaRPr lang="en-US" sz="1300" dirty="0"/>
          </a:p>
        </p:txBody>
      </p:sp>
      <p:sp>
        <p:nvSpPr>
          <p:cNvPr id="32" name="Text 30"/>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600" i="1" dirty="0">
                <a:solidFill>
                  <a:schemeClr val="accent2"/>
                </a:solidFill>
              </a:rPr>
              <a:t>Everything runs on the device. No frame, landmark or face template ever leaves the browser.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No data of our own: three public datasets of real people, split by person</a:t>
            </a:r>
            <a:endParaRPr lang="en-US" sz="2800" dirty="0"/>
          </a:p>
        </p:txBody>
      </p:sp>
      <p:sp>
        <p:nvSpPr>
          <p:cNvPr id="3" name="dataset-0"/>
          <p:cNvSpPr/>
          <p:nvPr/>
        </p:nvSpPr>
        <p:spPr>
          <a:xfrm>
            <a:off x="548640" y="1600200"/>
            <a:ext cx="3474720" cy="4206240"/>
          </a:xfrm>
          <a:prstGeom prst="roundRect">
            <a:avLst>
              <a:gd name="adj" fmla="val 3158"/>
            </a:avLst>
          </a:prstGeom>
          <a:solidFill>
            <a:schemeClr val="bg2"/>
          </a:solidFill>
          <a:ln w="9525">
            <a:solidFill>
              <a:schemeClr val="bg2"/>
            </a:solidFill>
            <a:prstDash val="solid"/>
          </a:ln>
        </p:spPr>
      </p:sp>
      <p:sp>
        <p:nvSpPr>
          <p:cNvPr id="4" name="Text 2"/>
          <p:cNvSpPr txBox="1"/>
          <p:nvPr/>
        </p:nvSpPr>
        <p:spPr>
          <a:xfrm>
            <a:off x="822960" y="1828800"/>
            <a:ext cx="29260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UTA-RLDD</a:t>
            </a:r>
            <a:endParaRPr lang="en-US" sz="2200" dirty="0"/>
          </a:p>
        </p:txBody>
      </p:sp>
      <p:sp>
        <p:nvSpPr>
          <p:cNvPr id="5" name="Text 3"/>
          <p:cNvSpPr txBox="1"/>
          <p:nvPr/>
        </p:nvSpPr>
        <p:spPr>
          <a:xfrm>
            <a:off x="822960" y="2331720"/>
            <a:ext cx="292608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60 people</a:t>
            </a:r>
            <a:endParaRPr lang="en-US" sz="3200" dirty="0"/>
          </a:p>
        </p:txBody>
      </p:sp>
      <p:sp>
        <p:nvSpPr>
          <p:cNvPr id="6" name="Text 4"/>
          <p:cNvSpPr txBox="1"/>
          <p:nvPr/>
        </p:nvSpPr>
        <p:spPr>
          <a:xfrm>
            <a:off x="822960" y="3154680"/>
            <a:ext cx="2926080" cy="1737360"/>
          </a:xfrm>
          <a:prstGeom prst="rect">
            <a:avLst/>
          </a:prstGeom>
          <a:noFill/>
          <a:ln/>
        </p:spPr>
        <p:txBody>
          <a:bodyPr wrap="square" lIns="0" tIns="0" rIns="0" bIns="0" rtlCol="0" anchor="t"/>
          <a:lstStyle/>
          <a:p>
            <a:pPr indent="0" marL="0">
              <a:buNone/>
            </a:pPr>
            <a:r>
              <a:rPr lang="en-US" sz="1400" dirty="0">
                <a:solidFill>
                  <a:schemeClr val="tx1"/>
                </a:solidFill>
              </a:rPr>
              <a:t>182 webcam/phone videos, self-rated alert, low-vigilant or drowsy (KSS). 1,087 clips of 30 s.</a:t>
            </a:r>
            <a:endParaRPr lang="en-US" sz="1400" dirty="0"/>
          </a:p>
        </p:txBody>
      </p:sp>
      <p:sp>
        <p:nvSpPr>
          <p:cNvPr id="7" name="Text 5"/>
          <p:cNvSpPr txBox="1"/>
          <p:nvPr/>
        </p:nvSpPr>
        <p:spPr>
          <a:xfrm>
            <a:off x="822960" y="5074920"/>
            <a:ext cx="2926080" cy="457200"/>
          </a:xfrm>
          <a:prstGeom prst="rect">
            <a:avLst/>
          </a:prstGeom>
          <a:noFill/>
          <a:ln/>
        </p:spPr>
        <p:txBody>
          <a:bodyPr wrap="square" lIns="0" tIns="0" rIns="0" bIns="0" rtlCol="0" anchor="ctr"/>
          <a:lstStyle/>
          <a:p>
            <a:pPr indent="0" marL="0">
              <a:buNone/>
            </a:pPr>
            <a:r>
              <a:rPr lang="en-US" sz="1300" b="1" dirty="0">
                <a:solidFill>
                  <a:schemeClr val="accent2"/>
                </a:solidFill>
              </a:rPr>
              <a:t>Drowsiness models · official 5 folds</a:t>
            </a:r>
            <a:endParaRPr lang="en-US" sz="1300" dirty="0"/>
          </a:p>
        </p:txBody>
      </p:sp>
      <p:sp>
        <p:nvSpPr>
          <p:cNvPr id="8" name="dataset-1"/>
          <p:cNvSpPr/>
          <p:nvPr/>
        </p:nvSpPr>
        <p:spPr>
          <a:xfrm>
            <a:off x="4297680" y="1600200"/>
            <a:ext cx="3474720" cy="4206240"/>
          </a:xfrm>
          <a:prstGeom prst="roundRect">
            <a:avLst>
              <a:gd name="adj" fmla="val 3158"/>
            </a:avLst>
          </a:prstGeom>
          <a:solidFill>
            <a:schemeClr val="bg2"/>
          </a:solidFill>
          <a:ln w="9525">
            <a:solidFill>
              <a:schemeClr val="bg2"/>
            </a:solidFill>
            <a:prstDash val="solid"/>
          </a:ln>
        </p:spPr>
      </p:sp>
      <p:sp>
        <p:nvSpPr>
          <p:cNvPr id="9" name="Text 7"/>
          <p:cNvSpPr txBox="1"/>
          <p:nvPr/>
        </p:nvSpPr>
        <p:spPr>
          <a:xfrm>
            <a:off x="4572000" y="1828800"/>
            <a:ext cx="29260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DMD</a:t>
            </a:r>
            <a:endParaRPr lang="en-US" sz="2200" dirty="0"/>
          </a:p>
        </p:txBody>
      </p:sp>
      <p:sp>
        <p:nvSpPr>
          <p:cNvPr id="10" name="Text 8"/>
          <p:cNvSpPr txBox="1"/>
          <p:nvPr/>
        </p:nvSpPr>
        <p:spPr>
          <a:xfrm>
            <a:off x="4572000" y="2331720"/>
            <a:ext cx="292608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13 drivers</a:t>
            </a:r>
            <a:endParaRPr lang="en-US" sz="3200" dirty="0"/>
          </a:p>
        </p:txBody>
      </p:sp>
      <p:sp>
        <p:nvSpPr>
          <p:cNvPr id="11" name="Text 9"/>
          <p:cNvSpPr txBox="1"/>
          <p:nvPr/>
        </p:nvSpPr>
        <p:spPr>
          <a:xfrm>
            <a:off x="4572000" y="3154680"/>
            <a:ext cx="2926080" cy="1737360"/>
          </a:xfrm>
          <a:prstGeom prst="rect">
            <a:avLst/>
          </a:prstGeom>
          <a:noFill/>
          <a:ln/>
        </p:spPr>
        <p:txBody>
          <a:bodyPr wrap="square" lIns="0" tIns="0" rIns="0" bIns="0" rtlCol="0" anchor="t"/>
          <a:lstStyle/>
          <a:p>
            <a:pPr indent="0" marL="0">
              <a:buNone/>
            </a:pPr>
            <a:r>
              <a:rPr lang="en-US" sz="1400" dirty="0">
                <a:solidFill>
                  <a:schemeClr val="tx1"/>
                </a:solidFill>
              </a:rPr>
              <a:t>88,222 frames in a real car, every frame labelled open, closing, closed or opening; blinks and yawns marked.</a:t>
            </a:r>
            <a:endParaRPr lang="en-US" sz="1400" dirty="0"/>
          </a:p>
        </p:txBody>
      </p:sp>
      <p:sp>
        <p:nvSpPr>
          <p:cNvPr id="12" name="Text 10"/>
          <p:cNvSpPr txBox="1"/>
          <p:nvPr/>
        </p:nvSpPr>
        <p:spPr>
          <a:xfrm>
            <a:off x="4572000" y="5074920"/>
            <a:ext cx="2926080" cy="457200"/>
          </a:xfrm>
          <a:prstGeom prst="rect">
            <a:avLst/>
          </a:prstGeom>
          <a:noFill/>
          <a:ln/>
        </p:spPr>
        <p:txBody>
          <a:bodyPr wrap="square" lIns="0" tIns="0" rIns="0" bIns="0" rtlCol="0" anchor="ctr"/>
          <a:lstStyle/>
          <a:p>
            <a:pPr indent="0" marL="0">
              <a:buNone/>
            </a:pPr>
            <a:r>
              <a:rPr lang="en-US" sz="1300" b="1" dirty="0">
                <a:solidFill>
                  <a:schemeClr val="accent2"/>
                </a:solidFill>
              </a:rPr>
              <a:t>Eye CNN · signal and event checks</a:t>
            </a:r>
            <a:endParaRPr lang="en-US" sz="1300" dirty="0"/>
          </a:p>
        </p:txBody>
      </p:sp>
      <p:sp>
        <p:nvSpPr>
          <p:cNvPr id="13" name="dataset-2"/>
          <p:cNvSpPr/>
          <p:nvPr/>
        </p:nvSpPr>
        <p:spPr>
          <a:xfrm>
            <a:off x="8046720" y="1600200"/>
            <a:ext cx="3474720" cy="4206240"/>
          </a:xfrm>
          <a:prstGeom prst="roundRect">
            <a:avLst>
              <a:gd name="adj" fmla="val 3158"/>
            </a:avLst>
          </a:prstGeom>
          <a:solidFill>
            <a:schemeClr val="bg2"/>
          </a:solidFill>
          <a:ln w="9525">
            <a:solidFill>
              <a:schemeClr val="bg2"/>
            </a:solidFill>
            <a:prstDash val="solid"/>
          </a:ln>
        </p:spPr>
      </p:sp>
      <p:sp>
        <p:nvSpPr>
          <p:cNvPr id="14" name="Text 12"/>
          <p:cNvSpPr txBox="1"/>
          <p:nvPr/>
        </p:nvSpPr>
        <p:spPr>
          <a:xfrm>
            <a:off x="8321040" y="1828800"/>
            <a:ext cx="29260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MRL Eye</a:t>
            </a:r>
            <a:endParaRPr lang="en-US" sz="2200" dirty="0"/>
          </a:p>
        </p:txBody>
      </p:sp>
      <p:sp>
        <p:nvSpPr>
          <p:cNvPr id="15" name="Text 13"/>
          <p:cNvSpPr txBox="1"/>
          <p:nvPr/>
        </p:nvSpPr>
        <p:spPr>
          <a:xfrm>
            <a:off x="8321040" y="2331720"/>
            <a:ext cx="292608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4000 images</a:t>
            </a:r>
            <a:endParaRPr lang="en-US" sz="3200" dirty="0"/>
          </a:p>
        </p:txBody>
      </p:sp>
      <p:sp>
        <p:nvSpPr>
          <p:cNvPr id="16" name="Text 14"/>
          <p:cNvSpPr txBox="1"/>
          <p:nvPr/>
        </p:nvSpPr>
        <p:spPr>
          <a:xfrm>
            <a:off x="8321040" y="3154680"/>
            <a:ext cx="2926080" cy="1737360"/>
          </a:xfrm>
          <a:prstGeom prst="rect">
            <a:avLst/>
          </a:prstGeom>
          <a:noFill/>
          <a:ln/>
        </p:spPr>
        <p:txBody>
          <a:bodyPr wrap="square" lIns="0" tIns="0" rIns="0" bIns="0" rtlCol="0" anchor="t"/>
          <a:lstStyle/>
          <a:p>
            <a:pPr indent="0" marL="0">
              <a:buNone/>
            </a:pPr>
            <a:r>
              <a:rPr lang="en-US" sz="1400" dirty="0">
                <a:solidFill>
                  <a:schemeClr val="tx1"/>
                </a:solidFill>
              </a:rPr>
              <a:t>Near-infrared eye crops from a different camera and population, never used for training.</a:t>
            </a:r>
            <a:endParaRPr lang="en-US" sz="1400" dirty="0"/>
          </a:p>
        </p:txBody>
      </p:sp>
      <p:sp>
        <p:nvSpPr>
          <p:cNvPr id="17" name="Text 15"/>
          <p:cNvSpPr txBox="1"/>
          <p:nvPr/>
        </p:nvSpPr>
        <p:spPr>
          <a:xfrm>
            <a:off x="8321040" y="5074920"/>
            <a:ext cx="2926080" cy="457200"/>
          </a:xfrm>
          <a:prstGeom prst="rect">
            <a:avLst/>
          </a:prstGeom>
          <a:noFill/>
          <a:ln/>
        </p:spPr>
        <p:txBody>
          <a:bodyPr wrap="square" lIns="0" tIns="0" rIns="0" bIns="0" rtlCol="0" anchor="ctr"/>
          <a:lstStyle/>
          <a:p>
            <a:pPr indent="0" marL="0">
              <a:buNone/>
            </a:pPr>
            <a:r>
              <a:rPr lang="en-US" sz="1300" b="1" dirty="0">
                <a:solidFill>
                  <a:schemeClr val="accent2"/>
                </a:solidFill>
              </a:rPr>
              <a:t>Out-of-domain test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offline experiments run the app's own code, so results transfer to the product</a:t>
            </a:r>
            <a:endParaRPr lang="en-US" sz="2800" dirty="0"/>
          </a:p>
        </p:txBody>
      </p:sp>
      <p:sp>
        <p:nvSpPr>
          <p:cNvPr id="3" name="rigour-0"/>
          <p:cNvSpPr/>
          <p:nvPr/>
        </p:nvSpPr>
        <p:spPr>
          <a:xfrm>
            <a:off x="548640" y="1645920"/>
            <a:ext cx="5440680" cy="1920240"/>
          </a:xfrm>
          <a:prstGeom prst="roundRect">
            <a:avLst>
              <a:gd name="adj" fmla="val 5714"/>
            </a:avLst>
          </a:prstGeom>
          <a:solidFill>
            <a:schemeClr val="bg2"/>
          </a:solidFill>
          <a:ln w="9525">
            <a:solidFill>
              <a:schemeClr val="bg2"/>
            </a:solidFill>
            <a:prstDash val="solid"/>
          </a:ln>
        </p:spPr>
      </p:sp>
      <p:sp>
        <p:nvSpPr>
          <p:cNvPr id="4" name="rigour-dot-0"/>
          <p:cNvSpPr/>
          <p:nvPr/>
        </p:nvSpPr>
        <p:spPr>
          <a:xfrm>
            <a:off x="822960" y="196596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82296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1463040" y="1920240"/>
            <a:ext cx="429768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Same perception</a:t>
            </a:r>
            <a:endParaRPr lang="en-US" sz="1900" dirty="0"/>
          </a:p>
        </p:txBody>
      </p:sp>
      <p:sp>
        <p:nvSpPr>
          <p:cNvPr id="7" name="Text 5"/>
          <p:cNvSpPr txBox="1"/>
          <p:nvPr/>
        </p:nvSpPr>
        <p:spPr>
          <a:xfrm>
            <a:off x="1463040" y="2423160"/>
            <a:ext cx="4297680" cy="1005840"/>
          </a:xfrm>
          <a:prstGeom prst="rect">
            <a:avLst/>
          </a:prstGeom>
          <a:noFill/>
          <a:ln/>
        </p:spPr>
        <p:txBody>
          <a:bodyPr wrap="square" lIns="0" tIns="0" rIns="0" bIns="0" rtlCol="0" anchor="t"/>
          <a:lstStyle/>
          <a:p>
            <a:pPr indent="0" marL="0">
              <a:buNone/>
            </a:pPr>
            <a:r>
              <a:rPr lang="en-US" sz="1400" dirty="0">
                <a:solidFill>
                  <a:schemeClr val="tx1"/>
                </a:solidFill>
              </a:rPr>
              <a:t>Videos go through the identical face_landmarker.task file and thresholds as the browser.</a:t>
            </a:r>
            <a:endParaRPr lang="en-US" sz="1400" dirty="0"/>
          </a:p>
        </p:txBody>
      </p:sp>
      <p:sp>
        <p:nvSpPr>
          <p:cNvPr id="8" name="rigour-1"/>
          <p:cNvSpPr/>
          <p:nvPr/>
        </p:nvSpPr>
        <p:spPr>
          <a:xfrm>
            <a:off x="6172200" y="1645920"/>
            <a:ext cx="5440680" cy="1920240"/>
          </a:xfrm>
          <a:prstGeom prst="roundRect">
            <a:avLst>
              <a:gd name="adj" fmla="val 5714"/>
            </a:avLst>
          </a:prstGeom>
          <a:solidFill>
            <a:schemeClr val="bg2"/>
          </a:solidFill>
          <a:ln w="9525">
            <a:solidFill>
              <a:schemeClr val="bg2"/>
            </a:solidFill>
            <a:prstDash val="solid"/>
          </a:ln>
        </p:spPr>
      </p:sp>
      <p:sp>
        <p:nvSpPr>
          <p:cNvPr id="9" name="rigour-dot-1"/>
          <p:cNvSpPr/>
          <p:nvPr/>
        </p:nvSpPr>
        <p:spPr>
          <a:xfrm>
            <a:off x="6446520" y="196596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644652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 9"/>
          <p:cNvSpPr txBox="1"/>
          <p:nvPr/>
        </p:nvSpPr>
        <p:spPr>
          <a:xfrm>
            <a:off x="7086600" y="1920240"/>
            <a:ext cx="429768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Same maths</a:t>
            </a:r>
            <a:endParaRPr lang="en-US" sz="1900" dirty="0"/>
          </a:p>
        </p:txBody>
      </p:sp>
      <p:sp>
        <p:nvSpPr>
          <p:cNvPr id="12" name="Text 10"/>
          <p:cNvSpPr txBox="1"/>
          <p:nvPr/>
        </p:nvSpPr>
        <p:spPr>
          <a:xfrm>
            <a:off x="7086600" y="2423160"/>
            <a:ext cx="4297680" cy="1005840"/>
          </a:xfrm>
          <a:prstGeom prst="rect">
            <a:avLst/>
          </a:prstGeom>
          <a:noFill/>
          <a:ln/>
        </p:spPr>
        <p:txBody>
          <a:bodyPr wrap="square" lIns="0" tIns="0" rIns="0" bIns="0" rtlCol="0" anchor="t"/>
          <a:lstStyle/>
          <a:p>
            <a:pPr indent="0" marL="0">
              <a:buNone/>
            </a:pPr>
            <a:r>
              <a:rPr lang="en-US" sz="1400" dirty="0">
                <a:solidFill>
                  <a:schemeClr val="tx1"/>
                </a:solidFill>
              </a:rPr>
              <a:t>Python ports of the browser signals match JavaScript to 10^-4 on recorded MediaPipe output (parity test).</a:t>
            </a:r>
            <a:endParaRPr lang="en-US" sz="1400" dirty="0"/>
          </a:p>
        </p:txBody>
      </p:sp>
      <p:sp>
        <p:nvSpPr>
          <p:cNvPr id="13" name="rigour-2"/>
          <p:cNvSpPr/>
          <p:nvPr/>
        </p:nvSpPr>
        <p:spPr>
          <a:xfrm>
            <a:off x="548640" y="3794760"/>
            <a:ext cx="5440680" cy="1920240"/>
          </a:xfrm>
          <a:prstGeom prst="roundRect">
            <a:avLst>
              <a:gd name="adj" fmla="val 5714"/>
            </a:avLst>
          </a:prstGeom>
          <a:solidFill>
            <a:schemeClr val="bg2"/>
          </a:solidFill>
          <a:ln w="9525">
            <a:solidFill>
              <a:schemeClr val="bg2"/>
            </a:solidFill>
            <a:prstDash val="solid"/>
          </a:ln>
        </p:spPr>
      </p:sp>
      <p:sp>
        <p:nvSpPr>
          <p:cNvPr id="14" name="rigour-dot-2"/>
          <p:cNvSpPr/>
          <p:nvPr/>
        </p:nvSpPr>
        <p:spPr>
          <a:xfrm>
            <a:off x="822960" y="411480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82296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Text 14"/>
          <p:cNvSpPr txBox="1"/>
          <p:nvPr/>
        </p:nvSpPr>
        <p:spPr>
          <a:xfrm>
            <a:off x="1463040" y="4069080"/>
            <a:ext cx="429768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Same rule engine</a:t>
            </a:r>
            <a:endParaRPr lang="en-US" sz="1900" dirty="0"/>
          </a:p>
        </p:txBody>
      </p:sp>
      <p:sp>
        <p:nvSpPr>
          <p:cNvPr id="17" name="Text 15"/>
          <p:cNvSpPr txBox="1"/>
          <p:nvPr/>
        </p:nvSpPr>
        <p:spPr>
          <a:xfrm>
            <a:off x="1463040" y="4572000"/>
            <a:ext cx="4297680" cy="1005840"/>
          </a:xfrm>
          <a:prstGeom prst="rect">
            <a:avLst/>
          </a:prstGeom>
          <a:noFill/>
          <a:ln/>
        </p:spPr>
        <p:txBody>
          <a:bodyPr wrap="square" lIns="0" tIns="0" rIns="0" bIns="0" rtlCol="0" anchor="t"/>
          <a:lstStyle/>
          <a:p>
            <a:pPr indent="0" marL="0">
              <a:buNone/>
            </a:pPr>
            <a:r>
              <a:rPr lang="en-US" sz="1400" dirty="0">
                <a:solidFill>
                  <a:schemeClr val="tx1"/>
                </a:solidFill>
              </a:rPr>
              <a:t>The shipped JavaScript tracker is replayed over every clip, not re-implemented.</a:t>
            </a:r>
            <a:endParaRPr lang="en-US" sz="1400" dirty="0"/>
          </a:p>
        </p:txBody>
      </p:sp>
      <p:sp>
        <p:nvSpPr>
          <p:cNvPr id="18" name="rigour-3"/>
          <p:cNvSpPr/>
          <p:nvPr/>
        </p:nvSpPr>
        <p:spPr>
          <a:xfrm>
            <a:off x="6172200" y="3794760"/>
            <a:ext cx="5440680" cy="1920240"/>
          </a:xfrm>
          <a:prstGeom prst="roundRect">
            <a:avLst>
              <a:gd name="adj" fmla="val 5714"/>
            </a:avLst>
          </a:prstGeom>
          <a:solidFill>
            <a:schemeClr val="bg2"/>
          </a:solidFill>
          <a:ln w="9525">
            <a:solidFill>
              <a:schemeClr val="bg2"/>
            </a:solidFill>
            <a:prstDash val="solid"/>
          </a:ln>
        </p:spPr>
      </p:sp>
      <p:sp>
        <p:nvSpPr>
          <p:cNvPr id="19" name="rigour-dot-3"/>
          <p:cNvSpPr/>
          <p:nvPr/>
        </p:nvSpPr>
        <p:spPr>
          <a:xfrm>
            <a:off x="6446520" y="411480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644652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 19"/>
          <p:cNvSpPr txBox="1"/>
          <p:nvPr/>
        </p:nvSpPr>
        <p:spPr>
          <a:xfrm>
            <a:off x="7086600" y="4069080"/>
            <a:ext cx="429768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Same shipped weights</a:t>
            </a:r>
            <a:endParaRPr lang="en-US" sz="1900" dirty="0"/>
          </a:p>
        </p:txBody>
      </p:sp>
      <p:sp>
        <p:nvSpPr>
          <p:cNvPr id="22" name="Text 20"/>
          <p:cNvSpPr txBox="1"/>
          <p:nvPr/>
        </p:nvSpPr>
        <p:spPr>
          <a:xfrm>
            <a:off x="7086600" y="4572000"/>
            <a:ext cx="4297680" cy="1005840"/>
          </a:xfrm>
          <a:prstGeom prst="rect">
            <a:avLst/>
          </a:prstGeom>
          <a:noFill/>
          <a:ln/>
        </p:spPr>
        <p:txBody>
          <a:bodyPr wrap="square" lIns="0" tIns="0" rIns="0" bIns="0" rtlCol="0" anchor="t"/>
          <a:lstStyle/>
          <a:p>
            <a:pPr indent="0" marL="0">
              <a:buNone/>
            </a:pPr>
            <a:r>
              <a:rPr lang="en-US" sz="1400" dirty="0">
                <a:solidFill>
                  <a:schemeClr val="tx1"/>
                </a:solidFill>
              </a:rPr>
              <a:t>The CNN is scored after int8 quantisation, the GRU after temperature scaling; JS matches PyTorch in tests.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Real data exposed a hidden bug: eye ratios were stretched by the camera's shape</a:t>
            </a:r>
            <a:endParaRPr lang="en-US" sz="2800" dirty="0"/>
          </a:p>
        </p:txBody>
      </p:sp>
      <p:sp>
        <p:nvSpPr>
          <p:cNvPr id="3" name="Text 1"/>
          <p:cNvSpPr txBox="1"/>
          <p:nvPr/>
        </p:nvSpPr>
        <p:spPr>
          <a:xfrm>
            <a:off x="548640" y="1508760"/>
            <a:ext cx="5212080" cy="1463040"/>
          </a:xfrm>
          <a:prstGeom prst="rect">
            <a:avLst/>
          </a:prstGeom>
          <a:noFill/>
          <a:ln/>
        </p:spPr>
        <p:txBody>
          <a:bodyPr wrap="square" lIns="0" tIns="0" rIns="0" bIns="0" rtlCol="0" anchor="t"/>
          <a:lstStyle/>
          <a:p>
            <a:pPr indent="0" marL="0">
              <a:buNone/>
            </a:pPr>
            <a:r>
              <a:rPr lang="en-US" sz="1500" dirty="0">
                <a:solidFill>
                  <a:schemeClr val="tx1"/>
                </a:solidFill>
              </a:rPr>
              <a:t>MediaPipe divides x by frame width and y by frame height. On a 16:9 webcam an open eye read EAR ≈ 0.52 instead of ≈ 0.29; on a portrait phone it read too low. A calibration clamp hid it.</a:t>
            </a:r>
            <a:endParaRPr lang="en-US" sz="1500" dirty="0"/>
          </a:p>
        </p:txBody>
      </p:sp>
      <p:sp>
        <p:nvSpPr>
          <p:cNvPr id="4" name="Text 2"/>
          <p:cNvSpPr txBox="1"/>
          <p:nvPr/>
        </p:nvSpPr>
        <p:spPr>
          <a:xfrm>
            <a:off x="548640" y="3017520"/>
            <a:ext cx="5212080" cy="1645920"/>
          </a:xfrm>
          <a:prstGeom prst="rect">
            <a:avLst/>
          </a:prstGeom>
          <a:noFill/>
          <a:ln/>
        </p:spPr>
        <p:txBody>
          <a:bodyPr wrap="square" lIns="0" tIns="0" rIns="0" bIns="0" rtlCol="0" anchor="t"/>
          <a:lstStyle/>
          <a:p>
            <a:pPr indent="0" marL="0">
              <a:buNone/>
            </a:pPr>
            <a:r>
              <a:rPr lang="en-US" sz="1500" dirty="0">
                <a:solidFill>
                  <a:schemeClr val="tx1"/>
                </a:solidFill>
              </a:rPr>
              <a:t>Fixing the maths alone lowered closed-eye F1, because the old threshold had silently compensated. Re-learning the cut by leave-one-driver-out cross-validation (0.26 → 0.52) gives correct geometry on every camera shape, and the best F1.</a:t>
            </a:r>
            <a:endParaRPr lang="en-US" sz="1500" dirty="0"/>
          </a:p>
        </p:txBody>
      </p:sp>
      <p:sp>
        <p:nvSpPr>
          <p:cNvPr id="5" name="lesson"/>
          <p:cNvSpPr/>
          <p:nvPr/>
        </p:nvSpPr>
        <p:spPr>
          <a:xfrm>
            <a:off x="548640" y="4800600"/>
            <a:ext cx="5212080" cy="1188720"/>
          </a:xfrm>
          <a:prstGeom prst="roundRect">
            <a:avLst>
              <a:gd name="adj" fmla="val 9231"/>
            </a:avLst>
          </a:prstGeom>
          <a:solidFill>
            <a:srgbClr val="FEF3C7"/>
          </a:solidFill>
          <a:ln w="9525">
            <a:solidFill>
              <a:srgbClr val="FEF3C7"/>
            </a:solidFill>
            <a:prstDash val="solid"/>
          </a:ln>
        </p:spPr>
      </p:sp>
      <p:sp>
        <p:nvSpPr>
          <p:cNvPr id="6" name="Text 4"/>
          <p:cNvSpPr txBox="1"/>
          <p:nvPr/>
        </p:nvSpPr>
        <p:spPr>
          <a:xfrm>
            <a:off x="777240" y="4937760"/>
            <a:ext cx="4754880" cy="914400"/>
          </a:xfrm>
          <a:prstGeom prst="rect">
            <a:avLst/>
          </a:prstGeom>
          <a:noFill/>
          <a:ln/>
        </p:spPr>
        <p:txBody>
          <a:bodyPr wrap="square" lIns="0" tIns="0" rIns="0" bIns="0" rtlCol="0" anchor="ctr"/>
          <a:lstStyle/>
          <a:p>
            <a:pPr indent="0" marL="0">
              <a:buNone/>
            </a:pPr>
            <a:r>
              <a:rPr lang="en-US" sz="1500" b="1" dirty="0">
                <a:solidFill>
                  <a:schemeClr val="tx1"/>
                </a:solidFill>
              </a:rPr>
              <a:t>Lesson: fix the measurement, then re-learn the decision threshold from data, never by hand.</a:t>
            </a:r>
            <a:endParaRPr lang="en-US" sz="1500" dirty="0"/>
          </a:p>
        </p:txBody>
      </p:sp>
      <p:graphicFrame>
        <p:nvGraphicFramePr>
          <p:cNvPr id="7" name="Chart 0" descr=""/>
          <p:cNvGraphicFramePr/>
          <p:nvPr/>
        </p:nvGraphicFramePr>
        <p:xfrm>
          <a:off x="6126480" y="1463040"/>
          <a:ext cx="5486400"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EyeNet: a 15.3k-parameter CNN that detects closed eyes on unseen drivers</a:t>
            </a:r>
            <a:endParaRPr lang="en-US" sz="2800" dirty="0"/>
          </a:p>
        </p:txBody>
      </p:sp>
      <p:sp>
        <p:nvSpPr>
          <p:cNvPr id="3" name="Text 1"/>
          <p:cNvSpPr txBox="1"/>
          <p:nvPr/>
        </p:nvSpPr>
        <p:spPr>
          <a:xfrm>
            <a:off x="548640" y="155448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0.998</a:t>
            </a:r>
            <a:endParaRPr lang="en-US" sz="4400" dirty="0"/>
          </a:p>
        </p:txBody>
      </p:sp>
      <p:sp>
        <p:nvSpPr>
          <p:cNvPr id="4" name="Text 2"/>
          <p:cNvSpPr txBox="1"/>
          <p:nvPr/>
        </p:nvSpPr>
        <p:spPr>
          <a:xfrm>
            <a:off x="548640" y="2395728"/>
            <a:ext cx="3291840" cy="640080"/>
          </a:xfrm>
          <a:prstGeom prst="rect">
            <a:avLst/>
          </a:prstGeom>
          <a:noFill/>
          <a:ln/>
        </p:spPr>
        <p:txBody>
          <a:bodyPr wrap="square" lIns="0" tIns="0" rIns="0" bIns="0" rtlCol="0" anchor="t"/>
          <a:lstStyle/>
          <a:p>
            <a:pPr indent="0" marL="0">
              <a:buNone/>
            </a:pPr>
            <a:r>
              <a:rPr lang="en-US" sz="1300" dirty="0">
                <a:solidFill>
                  <a:schemeClr val="accent3"/>
                </a:solidFill>
              </a:rPr>
              <a:t>ROC-AUC on held-out DMD drivers (int8, as shipped)</a:t>
            </a:r>
            <a:endParaRPr lang="en-US" sz="1300" dirty="0"/>
          </a:p>
        </p:txBody>
      </p:sp>
      <p:sp>
        <p:nvSpPr>
          <p:cNvPr id="5" name="Text 3"/>
          <p:cNvSpPr txBox="1"/>
          <p:nvPr/>
        </p:nvSpPr>
        <p:spPr>
          <a:xfrm>
            <a:off x="548640" y="301752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92.6%</a:t>
            </a:r>
            <a:endParaRPr lang="en-US" sz="4400" dirty="0"/>
          </a:p>
        </p:txBody>
      </p:sp>
      <p:sp>
        <p:nvSpPr>
          <p:cNvPr id="6" name="Text 4"/>
          <p:cNvSpPr txBox="1"/>
          <p:nvPr/>
        </p:nvSpPr>
        <p:spPr>
          <a:xfrm>
            <a:off x="548640" y="3858768"/>
            <a:ext cx="3291840" cy="640080"/>
          </a:xfrm>
          <a:prstGeom prst="rect">
            <a:avLst/>
          </a:prstGeom>
          <a:noFill/>
          <a:ln/>
        </p:spPr>
        <p:txBody>
          <a:bodyPr wrap="square" lIns="0" tIns="0" rIns="0" bIns="0" rtlCol="0" anchor="t"/>
          <a:lstStyle/>
          <a:p>
            <a:pPr indent="0" marL="0">
              <a:buNone/>
            </a:pPr>
            <a:r>
              <a:rPr lang="en-US" sz="1300" dirty="0">
                <a:solidFill>
                  <a:schemeClr val="accent3"/>
                </a:solidFill>
              </a:rPr>
              <a:t>accuracy on MRL infrared eyes: different camera, people and light</a:t>
            </a:r>
            <a:endParaRPr lang="en-US" sz="1300" dirty="0"/>
          </a:p>
        </p:txBody>
      </p:sp>
      <p:sp>
        <p:nvSpPr>
          <p:cNvPr id="7" name="Text 5"/>
          <p:cNvSpPr txBox="1"/>
          <p:nvPr/>
        </p:nvSpPr>
        <p:spPr>
          <a:xfrm>
            <a:off x="548640" y="448056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14.9 KB</a:t>
            </a:r>
            <a:endParaRPr lang="en-US" sz="4400" dirty="0"/>
          </a:p>
        </p:txBody>
      </p:sp>
      <p:sp>
        <p:nvSpPr>
          <p:cNvPr id="8" name="Text 6"/>
          <p:cNvSpPr txBox="1"/>
          <p:nvPr/>
        </p:nvSpPr>
        <p:spPr>
          <a:xfrm>
            <a:off x="548640" y="5321808"/>
            <a:ext cx="3291840" cy="640080"/>
          </a:xfrm>
          <a:prstGeom prst="rect">
            <a:avLst/>
          </a:prstGeom>
          <a:noFill/>
          <a:ln/>
        </p:spPr>
        <p:txBody>
          <a:bodyPr wrap="square" lIns="0" tIns="0" rIns="0" bIns="0" rtlCol="0" anchor="t"/>
          <a:lstStyle/>
          <a:p>
            <a:pPr indent="0" marL="0">
              <a:buNone/>
            </a:pPr>
            <a:r>
              <a:rPr lang="en-US" sz="1300" dirty="0">
                <a:solidFill>
                  <a:schemeClr val="accent3"/>
                </a:solidFill>
              </a:rPr>
              <a:t>of int8 weights, run in plain JavaScript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297680" y="1645920"/>
          <a:ext cx="7315200" cy="914400"/>
        </p:xfrm>
        <a:graphic>
          <a:graphicData uri="http://schemas.openxmlformats.org/drawingml/2006/table">
            <a:tbl>
              <a:tblPr/>
              <a:tblGrid>
                <a:gridCol w="2743200"/>
                <a:gridCol w="1188720"/>
                <a:gridCol w="1097280"/>
                <a:gridCol w="1097280"/>
                <a:gridCol w="1188720"/>
              </a:tblGrid>
              <a:tr h="457200">
                <a:tc>
                  <a:txBody>
                    <a:bodyPr/>
                    <a:lstStyle/>
                    <a:p>
                      <a:pPr algn="l" indent="0" marL="0">
                        <a:buNone/>
                      </a:pPr>
                      <a:r>
                        <a:rPr lang="en-US" sz="1200" b="1" dirty="0">
                          <a:solidFill>
                            <a:srgbClr val="64748B"/>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Parameters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F1 closed</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72A"/>
                          </a:solidFill>
                          <a:latin typeface="Calibri" pitchFamily="34" charset="0"/>
                          <a:ea typeface="Calibri" pitchFamily="34" charset="-122"/>
                          <a:cs typeface="Calibri" pitchFamily="34" charset="-120"/>
                        </a:rPr>
                        <a:t>Pixels + PCA + LogReg</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65,601</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97.2%</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0.900</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0.989</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400" dirty="0">
                          <a:solidFill>
                            <a:srgbClr val="0F172A"/>
                          </a:solidFill>
                          <a:latin typeface="Calibri" pitchFamily="34" charset="0"/>
                          <a:ea typeface="Calibri" pitchFamily="34" charset="-122"/>
                          <a:cs typeface="Calibri" pitchFamily="34" charset="-120"/>
                        </a:rPr>
                        <a:t>EyeNet-L (float)</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60,530</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98.9%</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0.958</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0.997</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72A"/>
                          </a:solidFill>
                          <a:latin typeface="Calibri" pitchFamily="34" charset="0"/>
                          <a:ea typeface="Calibri" pitchFamily="34" charset="-122"/>
                          <a:cs typeface="Calibri" pitchFamily="34" charset="-120"/>
                        </a:rPr>
                        <a:t>EyeNet-S (float)</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15,290</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98.9%</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0.961</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400" dirty="0">
                          <a:solidFill>
                            <a:srgbClr val="0F172A"/>
                          </a:solidFill>
                          <a:latin typeface="Calibri" pitchFamily="34" charset="0"/>
                          <a:ea typeface="Calibri" pitchFamily="34" charset="-122"/>
                          <a:cs typeface="Calibri" pitchFamily="34" charset="-120"/>
                        </a:rPr>
                        <a:t>0.998</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400" b="1" dirty="0">
                          <a:solidFill>
                            <a:srgbClr val="F59E0B"/>
                          </a:solidFill>
                          <a:latin typeface="Calibri" pitchFamily="34" charset="0"/>
                          <a:ea typeface="Calibri" pitchFamily="34" charset="-122"/>
                          <a:cs typeface="Calibri" pitchFamily="34" charset="-120"/>
                        </a:rPr>
                        <a:t>EyeNet-S int8 (shipped)</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F59E0B"/>
                          </a:solidFill>
                          <a:latin typeface="Calibri" pitchFamily="34" charset="0"/>
                          <a:ea typeface="Calibri" pitchFamily="34" charset="-122"/>
                          <a:cs typeface="Calibri" pitchFamily="34" charset="-120"/>
                        </a:rPr>
                        <a:t>15,290</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F59E0B"/>
                          </a:solidFill>
                          <a:latin typeface="Calibri" pitchFamily="34" charset="0"/>
                          <a:ea typeface="Calibri" pitchFamily="34" charset="-122"/>
                          <a:cs typeface="Calibri" pitchFamily="34" charset="-120"/>
                        </a:rPr>
                        <a:t>98.9%</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F59E0B"/>
                          </a:solidFill>
                          <a:latin typeface="Calibri" pitchFamily="34" charset="0"/>
                          <a:ea typeface="Calibri" pitchFamily="34" charset="-122"/>
                          <a:cs typeface="Calibri" pitchFamily="34" charset="-120"/>
                        </a:rPr>
                        <a:t>0.959</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F59E0B"/>
                          </a:solidFill>
                          <a:latin typeface="Calibri" pitchFamily="34" charset="0"/>
                          <a:ea typeface="Calibri" pitchFamily="34" charset="-122"/>
                          <a:cs typeface="Calibri" pitchFamily="34" charset="-120"/>
                        </a:rPr>
                        <a:t>0.998</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4297680" y="4251960"/>
            <a:ext cx="7315200" cy="1463040"/>
          </a:xfrm>
          <a:prstGeom prst="rect">
            <a:avLst/>
          </a:prstGeom>
          <a:noFill/>
          <a:ln/>
        </p:spPr>
        <p:txBody>
          <a:bodyPr wrap="square" lIns="0" tIns="0" rIns="0" bIns="0" rtlCol="0" anchor="t"/>
          <a:lstStyle/>
          <a:p>
            <a:pPr indent="0" marL="0">
              <a:buNone/>
            </a:pPr>
            <a:r>
              <a:rPr lang="en-US" sz="1400" dirty="0">
                <a:solidFill>
                  <a:schemeClr val="accent3"/>
                </a:solidFill>
              </a:rPr>
              <a:t>Five-fold cross-validation grouped by driver. Input: 32×32 landmark-aligned grayscale crops; four 3×3 conv blocks, global average pooling. BatchNorm is folded and weights quantised to int8 before scoring, so the table's last row is exactly what ships.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Head-on, every closed-eye signal scores above 0.99 ROC-AUC on unseen drivers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914400"/>
        </p:xfrm>
        <a:graphic>
          <a:graphicData uri="http://schemas.openxmlformats.org/drawingml/2006/table">
            <a:tbl>
              <a:tblPr/>
              <a:tblGrid>
                <a:gridCol w="3108960"/>
                <a:gridCol w="1097280"/>
                <a:gridCol w="1737360"/>
                <a:gridCol w="1005840"/>
              </a:tblGrid>
              <a:tr h="502920">
                <a:tc>
                  <a:txBody>
                    <a:bodyPr/>
                    <a:lstStyle/>
                    <a:p>
                      <a:pPr algn="l" indent="0" marL="0">
                        <a:buNone/>
                      </a:pPr>
                      <a:r>
                        <a:rPr lang="en-US" sz="1200" b="1" dirty="0">
                          <a:solidFill>
                            <a:srgbClr val="64748B"/>
                          </a:solidFill>
                          <a:latin typeface="Calibri" pitchFamily="34" charset="0"/>
                          <a:ea typeface="Calibri" pitchFamily="34" charset="-122"/>
                          <a:cs typeface="Calibri" pitchFamily="34" charset="-120"/>
                        </a:rPr>
                        <a:t>Closed-eye detector</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95% CI over drivers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64748B"/>
                          </a:solidFill>
                          <a:latin typeface="Calibri" pitchFamily="34" charset="0"/>
                          <a:ea typeface="Calibri" pitchFamily="34" charset="-122"/>
                          <a:cs typeface="Calibri" pitchFamily="34" charset="-120"/>
                        </a:rPr>
                        <a:t>Best F1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F172A"/>
                          </a:solidFill>
                          <a:latin typeface="Calibri" pitchFamily="34" charset="0"/>
                          <a:ea typeface="Calibri" pitchFamily="34" charset="-122"/>
                          <a:cs typeface="Calibri" pitchFamily="34" charset="-120"/>
                        </a:rPr>
                        <a:t>EAR (geometry)</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0.993</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0.982 – 0.999</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0.954</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502920">
                <a:tc>
                  <a:txBody>
                    <a:bodyPr/>
                    <a:lstStyle/>
                    <a:p>
                      <a:pPr algn="l" indent="0" marL="0">
                        <a:buNone/>
                      </a:pPr>
                      <a:r>
                        <a:rPr lang="en-US" sz="1500" dirty="0">
                          <a:solidFill>
                            <a:srgbClr val="0F172A"/>
                          </a:solidFill>
                          <a:latin typeface="Calibri" pitchFamily="34" charset="0"/>
                          <a:ea typeface="Calibri" pitchFamily="34" charset="-122"/>
                          <a:cs typeface="Calibri" pitchFamily="34" charset="-120"/>
                        </a:rPr>
                        <a:t>Blink blendshape</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0.998</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0.995 – 0.999</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0.960</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F172A"/>
                          </a:solidFill>
                          <a:latin typeface="Calibri" pitchFamily="34" charset="0"/>
                          <a:ea typeface="Calibri" pitchFamily="34" charset="-122"/>
                          <a:cs typeface="Calibri" pitchFamily="34" charset="-120"/>
                        </a:rPr>
                        <a:t>App fusion (EAR + blendshape)</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0.996</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0.991 – 1.000</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0.957</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502920">
                <a:tc>
                  <a:txBody>
                    <a:bodyPr/>
                    <a:lstStyle/>
                    <a:p>
                      <a:pPr algn="l" indent="0" marL="0">
                        <a:buNone/>
                      </a:pPr>
                      <a:r>
                        <a:rPr lang="en-US" sz="1500" b="1" dirty="0">
                          <a:solidFill>
                            <a:srgbClr val="F59E0B"/>
                          </a:solidFill>
                          <a:latin typeface="Calibri" pitchFamily="34" charset="0"/>
                          <a:ea typeface="Calibri" pitchFamily="34" charset="-122"/>
                          <a:cs typeface="Calibri" pitchFamily="34" charset="-120"/>
                        </a:rPr>
                        <a:t>EyeNet CNN (ours)</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F59E0B"/>
                          </a:solidFill>
                          <a:latin typeface="Calibri" pitchFamily="34" charset="0"/>
                          <a:ea typeface="Calibri" pitchFamily="34" charset="-122"/>
                          <a:cs typeface="Calibri" pitchFamily="34" charset="-120"/>
                        </a:rPr>
                        <a:t>0.998</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F59E0B"/>
                          </a:solidFill>
                          <a:latin typeface="Calibri" pitchFamily="34" charset="0"/>
                          <a:ea typeface="Calibri" pitchFamily="34" charset="-122"/>
                          <a:cs typeface="Calibri" pitchFamily="34" charset="-120"/>
                        </a:rPr>
                        <a:t>0.996 – 0.999</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F59E0B"/>
                          </a:solidFill>
                          <a:latin typeface="Calibri" pitchFamily="34" charset="0"/>
                          <a:ea typeface="Calibri" pitchFamily="34" charset="-122"/>
                          <a:cs typeface="Calibri" pitchFamily="34" charset="-120"/>
                        </a:rPr>
                        <a:t>0.960</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F172A"/>
                          </a:solidFill>
                          <a:latin typeface="Calibri" pitchFamily="34" charset="0"/>
                          <a:ea typeface="Calibri" pitchFamily="34" charset="-122"/>
                          <a:cs typeface="Calibri" pitchFamily="34" charset="-120"/>
                        </a:rPr>
                        <a:t>Stacked fusion (ours)</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0.996</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0.991 – 0.999</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500" dirty="0">
                          <a:solidFill>
                            <a:srgbClr val="0F172A"/>
                          </a:solidFill>
                          <a:latin typeface="Calibri" pitchFamily="34" charset="0"/>
                          <a:ea typeface="Calibri" pitchFamily="34" charset="-122"/>
                          <a:cs typeface="Calibri" pitchFamily="34" charset="-120"/>
                        </a:rPr>
                        <a:t>0.960</a:t>
                      </a:r>
                      <a:endParaRPr lang="en-US" sz="15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4" name="honest-read"/>
          <p:cNvSpPr/>
          <p:nvPr/>
        </p:nvSpPr>
        <p:spPr>
          <a:xfrm>
            <a:off x="7863840" y="1600200"/>
            <a:ext cx="3749040" cy="3017520"/>
          </a:xfrm>
          <a:prstGeom prst="roundRect">
            <a:avLst>
              <a:gd name="adj" fmla="val 3636"/>
            </a:avLst>
          </a:prstGeom>
          <a:solidFill>
            <a:srgbClr val="FEF3C7"/>
          </a:solidFill>
          <a:ln w="9525">
            <a:solidFill>
              <a:srgbClr val="FEF3C7"/>
            </a:solidFill>
            <a:prstDash val="solid"/>
          </a:ln>
        </p:spPr>
      </p:sp>
      <p:sp>
        <p:nvSpPr>
          <p:cNvPr id="5" name="Text 2"/>
          <p:cNvSpPr txBox="1"/>
          <p:nvPr/>
        </p:nvSpPr>
        <p:spPr>
          <a:xfrm>
            <a:off x="8138160" y="1783080"/>
            <a:ext cx="320040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Honest reading</a:t>
            </a:r>
            <a:endParaRPr lang="en-US" sz="1800" dirty="0"/>
          </a:p>
        </p:txBody>
      </p:sp>
      <p:sp>
        <p:nvSpPr>
          <p:cNvPr id="6" name="Text 3"/>
          <p:cNvSpPr txBox="1"/>
          <p:nvPr/>
        </p:nvSpPr>
        <p:spPr>
          <a:xfrm>
            <a:off x="8138160" y="2240280"/>
            <a:ext cx="3200400" cy="2286000"/>
          </a:xfrm>
          <a:prstGeom prst="rect">
            <a:avLst/>
          </a:prstGeom>
          <a:noFill/>
          <a:ln/>
        </p:spPr>
        <p:txBody>
          <a:bodyPr wrap="square" lIns="0" tIns="0" rIns="0" bIns="0" rtlCol="0" anchor="t"/>
          <a:lstStyle/>
          <a:p>
            <a:pPr indent="0" marL="0">
              <a:buNone/>
            </a:pPr>
            <a:r>
              <a:rPr lang="en-US" sz="1400" dirty="0">
                <a:solidFill>
                  <a:schemeClr val="tx1"/>
                </a:solidFill>
              </a:rPr>
              <a:t>The intervals overlap: on DMD's mostly frontal footage the CNN does not beat MediaPipe's own blink score. Its value is independence from landmarks and its infrared transfer (slide 7), which is why it runs beside the fusion rather than replacing it.</a:t>
            </a:r>
            <a:endParaRPr lang="en-US" sz="1400" dirty="0"/>
          </a:p>
        </p:txBody>
      </p:sp>
      <p:sp>
        <p:nvSpPr>
          <p:cNvPr id="7" name="Text 4"/>
          <p:cNvSpPr txBox="1"/>
          <p:nvPr/>
        </p:nvSpPr>
        <p:spPr>
          <a:xfrm>
            <a:off x="548640" y="4983480"/>
            <a:ext cx="6949440" cy="731520"/>
          </a:xfrm>
          <a:prstGeom prst="rect">
            <a:avLst/>
          </a:prstGeom>
          <a:noFill/>
          <a:ln/>
        </p:spPr>
        <p:txBody>
          <a:bodyPr wrap="square" lIns="0" tIns="0" rIns="0" bIns="0" rtlCol="0" anchor="ctr"/>
          <a:lstStyle/>
          <a:p>
            <a:pPr indent="0" marL="0">
              <a:buNone/>
            </a:pPr>
            <a:r>
              <a:rPr lang="en-US" sz="1400" dirty="0">
                <a:solidFill>
                  <a:schemeClr val="accent3"/>
                </a:solidFill>
              </a:rPr>
              <a:t>65,290 human-labelled frames; CNN and stacked scores are out-of-fold, so no driver was seen in training.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On 60 unseen people the best model reaches 53.3%: drowsiness from 30-second clips is hard</a:t>
            </a:r>
            <a:endParaRPr lang="en-US" sz="2800" dirty="0"/>
          </a:p>
        </p:txBody>
      </p:sp>
      <p:graphicFrame>
        <p:nvGraphicFramePr>
          <p:cNvPr id="3" name="Chart 0" descr=""/>
          <p:cNvGraphicFramePr/>
          <p:nvPr/>
        </p:nvGraphicFramePr>
        <p:xfrm>
          <a:off x="548640" y="1417320"/>
          <a:ext cx="740664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321040" y="1600200"/>
            <a:ext cx="3291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0.761</a:t>
            </a:r>
            <a:endParaRPr lang="en-US" sz="4000" dirty="0"/>
          </a:p>
        </p:txBody>
      </p:sp>
      <p:sp>
        <p:nvSpPr>
          <p:cNvPr id="5" name="Text 2"/>
          <p:cNvSpPr txBox="1"/>
          <p:nvPr/>
        </p:nvSpPr>
        <p:spPr>
          <a:xfrm>
            <a:off x="8321040" y="2441448"/>
            <a:ext cx="3291840" cy="640080"/>
          </a:xfrm>
          <a:prstGeom prst="rect">
            <a:avLst/>
          </a:prstGeom>
          <a:noFill/>
          <a:ln/>
        </p:spPr>
        <p:txBody>
          <a:bodyPr wrap="square" lIns="0" tIns="0" rIns="0" bIns="0" rtlCol="0" anchor="t"/>
          <a:lstStyle/>
          <a:p>
            <a:pPr indent="0" marL="0">
              <a:buNone/>
            </a:pPr>
            <a:r>
              <a:rPr lang="en-US" sz="1300" dirty="0">
                <a:solidFill>
                  <a:schemeClr val="accent3"/>
                </a:solidFill>
              </a:rPr>
              <a:t>alert vs drowsy ROC-AUC, logistic regression</a:t>
            </a:r>
            <a:endParaRPr lang="en-US" sz="1300" dirty="0"/>
          </a:p>
        </p:txBody>
      </p:sp>
      <p:sp>
        <p:nvSpPr>
          <p:cNvPr id="6" name="Text 3"/>
          <p:cNvSpPr txBox="1"/>
          <p:nvPr/>
        </p:nvSpPr>
        <p:spPr>
          <a:xfrm>
            <a:off x="8321040" y="3154680"/>
            <a:ext cx="329184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48%–59%</a:t>
            </a:r>
            <a:endParaRPr lang="en-US" sz="3400" dirty="0"/>
          </a:p>
        </p:txBody>
      </p:sp>
      <p:sp>
        <p:nvSpPr>
          <p:cNvPr id="7" name="Text 4"/>
          <p:cNvSpPr txBox="1"/>
          <p:nvPr/>
        </p:nvSpPr>
        <p:spPr>
          <a:xfrm>
            <a:off x="8321040" y="3995928"/>
            <a:ext cx="3291840" cy="640080"/>
          </a:xfrm>
          <a:prstGeom prst="rect">
            <a:avLst/>
          </a:prstGeom>
          <a:noFill/>
          <a:ln/>
        </p:spPr>
        <p:txBody>
          <a:bodyPr wrap="square" lIns="0" tIns="0" rIns="0" bIns="0" rtlCol="0" anchor="t"/>
          <a:lstStyle/>
          <a:p>
            <a:pPr indent="0" marL="0">
              <a:buNone/>
            </a:pPr>
            <a:r>
              <a:rPr lang="en-US" sz="1300" dirty="0">
                <a:solidFill>
                  <a:schemeClr val="accent3"/>
                </a:solidFill>
              </a:rPr>
              <a:t>95% interval, resampling people</a:t>
            </a:r>
            <a:endParaRPr lang="en-US" sz="1300" dirty="0"/>
          </a:p>
        </p:txBody>
      </p:sp>
      <p:sp>
        <p:nvSpPr>
          <p:cNvPr id="8" name="Text 5"/>
          <p:cNvSpPr txBox="1"/>
          <p:nvPr/>
        </p:nvSpPr>
        <p:spPr>
          <a:xfrm>
            <a:off x="8321040" y="4709160"/>
            <a:ext cx="3291840" cy="1280160"/>
          </a:xfrm>
          <a:prstGeom prst="rect">
            <a:avLst/>
          </a:prstGeom>
          <a:noFill/>
          <a:ln/>
        </p:spPr>
        <p:txBody>
          <a:bodyPr wrap="square" lIns="0" tIns="0" rIns="0" bIns="0" rtlCol="0" anchor="t"/>
          <a:lstStyle/>
          <a:p>
            <a:pPr indent="0" marL="0">
              <a:buNone/>
            </a:pPr>
            <a:r>
              <a:rPr lang="en-US" sz="1300" dirty="0">
                <a:solidFill>
                  <a:schemeClr val="accent3"/>
                </a:solidFill>
              </a:rPr>
              <a:t>The published HM-LSTM reads whole 10-minute videos of blink sequences; these models see 6 clips of 30 s per video. Every model, learned or rule-based, is well above chance and below the published model.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We nearly fooled ourselves: a big gain from "fresh" calibration was a confound</a:t>
            </a:r>
            <a:endParaRPr lang="en-US" sz="2800" dirty="0"/>
          </a:p>
        </p:txBody>
      </p:sp>
      <p:graphicFrame>
        <p:nvGraphicFramePr>
          <p:cNvPr id="3" name="Chart 0" descr=""/>
          <p:cNvGraphicFramePr/>
          <p:nvPr/>
        </p:nvGraphicFramePr>
        <p:xfrm>
          <a:off x="548640" y="14173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508760"/>
            <a:ext cx="37490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Hypothesis</a:t>
            </a:r>
            <a:endParaRPr lang="en-US" sz="1600" dirty="0"/>
          </a:p>
        </p:txBody>
      </p:sp>
      <p:sp>
        <p:nvSpPr>
          <p:cNvPr id="5" name="Text 2"/>
          <p:cNvSpPr txBox="1"/>
          <p:nvPr/>
        </p:nvSpPr>
        <p:spPr>
          <a:xfrm>
            <a:off x="7863840" y="1874520"/>
            <a:ext cx="3749040" cy="731520"/>
          </a:xfrm>
          <a:prstGeom prst="rect">
            <a:avLst/>
          </a:prstGeom>
          <a:noFill/>
          <a:ln/>
        </p:spPr>
        <p:txBody>
          <a:bodyPr wrap="square" lIns="0" tIns="0" rIns="0" bIns="0" rtlCol="0" anchor="t"/>
          <a:lstStyle/>
          <a:p>
            <a:pPr indent="0" marL="0">
              <a:buNone/>
            </a:pPr>
            <a:r>
              <a:rPr lang="en-US" sz="1300" dirty="0">
                <a:solidFill>
                  <a:schemeClr val="tx1"/>
                </a:solidFill>
              </a:rPr>
              <a:t>Calibrating on a face that is already tired hides tiredness, so calibrate once while alert.</a:t>
            </a:r>
            <a:endParaRPr lang="en-US" sz="1300" dirty="0"/>
          </a:p>
        </p:txBody>
      </p:sp>
      <p:sp>
        <p:nvSpPr>
          <p:cNvPr id="6" name="Text 3"/>
          <p:cNvSpPr txBox="1"/>
          <p:nvPr/>
        </p:nvSpPr>
        <p:spPr>
          <a:xfrm>
            <a:off x="7863840" y="2624328"/>
            <a:ext cx="37490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result</a:t>
            </a:r>
            <a:endParaRPr lang="en-US" sz="1600" dirty="0"/>
          </a:p>
        </p:txBody>
      </p:sp>
      <p:sp>
        <p:nvSpPr>
          <p:cNvPr id="7" name="Text 4"/>
          <p:cNvSpPr txBox="1"/>
          <p:nvPr/>
        </p:nvSpPr>
        <p:spPr>
          <a:xfrm>
            <a:off x="7863840" y="2990088"/>
            <a:ext cx="3749040" cy="731520"/>
          </a:xfrm>
          <a:prstGeom prst="rect">
            <a:avLst/>
          </a:prstGeom>
          <a:noFill/>
          <a:ln/>
        </p:spPr>
        <p:txBody>
          <a:bodyPr wrap="square" lIns="0" tIns="0" rIns="0" bIns="0" rtlCol="0" anchor="t"/>
          <a:lstStyle/>
          <a:p>
            <a:pPr indent="0" marL="0">
              <a:buNone/>
            </a:pPr>
            <a:r>
              <a:rPr lang="en-US" sz="1300" dirty="0">
                <a:solidFill>
                  <a:schemeClr val="tx1"/>
                </a:solidFill>
              </a:rPr>
              <a:t>Carrying the whole alert baseline over raised mean accuracy 49% → 56%.</a:t>
            </a:r>
            <a:endParaRPr lang="en-US" sz="1300" dirty="0"/>
          </a:p>
        </p:txBody>
      </p:sp>
      <p:sp>
        <p:nvSpPr>
          <p:cNvPr id="8" name="Text 5"/>
          <p:cNvSpPr txBox="1"/>
          <p:nvPr/>
        </p:nvSpPr>
        <p:spPr>
          <a:xfrm>
            <a:off x="7863840" y="3739896"/>
            <a:ext cx="3749040" cy="365760"/>
          </a:xfrm>
          <a:prstGeom prst="rect">
            <a:avLst/>
          </a:prstGeom>
          <a:noFill/>
          <a:ln/>
        </p:spPr>
        <p:txBody>
          <a:bodyPr wrap="square" lIns="0" tIns="0" rIns="0" bIns="0" rtlCol="0" anchor="ctr"/>
          <a:lstStyle/>
          <a:p>
            <a:pPr indent="0" marL="0">
              <a:buNone/>
            </a:pPr>
            <a:r>
              <a:rPr lang="en-US" sz="1600" b="1" dirty="0">
                <a:solidFill>
                  <a:schemeClr val="accent5"/>
                </a:solidFill>
                <a:latin typeface="Cambria" pitchFamily="34" charset="0"/>
                <a:ea typeface="Cambria" pitchFamily="34" charset="-122"/>
                <a:cs typeface="Cambria" pitchFamily="34" charset="-120"/>
              </a:rPr>
              <a:t>The catch</a:t>
            </a:r>
            <a:endParaRPr lang="en-US" sz="1600" dirty="0"/>
          </a:p>
        </p:txBody>
      </p:sp>
      <p:sp>
        <p:nvSpPr>
          <p:cNvPr id="9" name="Text 6"/>
          <p:cNvSpPr txBox="1"/>
          <p:nvPr/>
        </p:nvSpPr>
        <p:spPr>
          <a:xfrm>
            <a:off x="7863840" y="4105656"/>
            <a:ext cx="3749040" cy="731520"/>
          </a:xfrm>
          <a:prstGeom prst="rect">
            <a:avLst/>
          </a:prstGeom>
          <a:noFill/>
          <a:ln/>
        </p:spPr>
        <p:txBody>
          <a:bodyPr wrap="square" lIns="0" tIns="0" rIns="0" bIns="0" rtlCol="0" anchor="t"/>
          <a:lstStyle/>
          <a:p>
            <a:pPr indent="0" marL="0">
              <a:buNone/>
            </a:pPr>
            <a:r>
              <a:rPr lang="en-US" sz="1300" dirty="0">
                <a:solidFill>
                  <a:schemeClr val="tx1"/>
                </a:solidFill>
              </a:rPr>
              <a:t>RLDD's three states are separate recordings, often with the camera moved: a carried-over head-pose baseline partly recognises the recording.</a:t>
            </a:r>
            <a:endParaRPr lang="en-US" sz="1300" dirty="0"/>
          </a:p>
        </p:txBody>
      </p:sp>
      <p:sp>
        <p:nvSpPr>
          <p:cNvPr id="10" name="Text 7"/>
          <p:cNvSpPr txBox="1"/>
          <p:nvPr/>
        </p:nvSpPr>
        <p:spPr>
          <a:xfrm>
            <a:off x="7863840" y="4855464"/>
            <a:ext cx="37490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Controlled</a:t>
            </a:r>
            <a:endParaRPr lang="en-US" sz="1600" dirty="0"/>
          </a:p>
        </p:txBody>
      </p:sp>
      <p:sp>
        <p:nvSpPr>
          <p:cNvPr id="11" name="Text 8"/>
          <p:cNvSpPr txBox="1"/>
          <p:nvPr/>
        </p:nvSpPr>
        <p:spPr>
          <a:xfrm>
            <a:off x="7863840" y="5221224"/>
            <a:ext cx="3749040" cy="731520"/>
          </a:xfrm>
          <a:prstGeom prst="rect">
            <a:avLst/>
          </a:prstGeom>
          <a:noFill/>
          <a:ln/>
        </p:spPr>
        <p:txBody>
          <a:bodyPr wrap="square" lIns="0" tIns="0" rIns="0" bIns="0" rtlCol="0" anchor="t"/>
          <a:lstStyle/>
          <a:p>
            <a:pPr indent="0" marL="0">
              <a:buNone/>
            </a:pPr>
            <a:r>
              <a:rPr lang="en-US" sz="1300" dirty="0">
                <a:solidFill>
                  <a:schemeClr val="tx1"/>
                </a:solidFill>
              </a:rPr>
              <a:t>Carrying only eyes and mouth: 49% → 51%. The app keeps per-session calibration.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Errors sit in the middle class; the GRU's confidence is calibrated by temperature scaling</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035040" cy="914400"/>
        </p:xfrm>
        <a:graphic>
          <a:graphicData uri="http://schemas.openxmlformats.org/drawingml/2006/table">
            <a:tbl>
              <a:tblPr/>
              <a:tblGrid>
                <a:gridCol w="2194560"/>
                <a:gridCol w="1280160"/>
                <a:gridCol w="1280160"/>
                <a:gridCol w="1280160"/>
              </a:tblGrid>
              <a:tr h="502920">
                <a:tc>
                  <a:txBody>
                    <a:bodyPr/>
                    <a:lstStyle/>
                    <a:p>
                      <a:pPr algn="l" indent="0" marL="0">
                        <a:buNone/>
                      </a:pPr>
                      <a:r>
                        <a:rPr lang="en-US" sz="1200" b="1" dirty="0">
                          <a:solidFill>
                            <a:srgbClr val="64748B"/>
                          </a:solidFill>
                          <a:latin typeface="Calibri" pitchFamily="34" charset="0"/>
                          <a:ea typeface="Calibri" pitchFamily="34" charset="-122"/>
                          <a:cs typeface="Calibri" pitchFamily="34" charset="-120"/>
                        </a:rPr>
                        <a:t>Logistic regression: true ↓ / predicted →</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Alert</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Low vigilant</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Drowsy</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868680">
                <a:tc>
                  <a:txBody>
                    <a:bodyPr/>
                    <a:lstStyle/>
                    <a:p>
                      <a:pPr algn="l" indent="0" marL="0">
                        <a:buNone/>
                      </a:pPr>
                      <a:r>
                        <a:rPr lang="en-US" sz="1500" b="1" dirty="0">
                          <a:solidFill>
                            <a:srgbClr val="0F172A"/>
                          </a:solidFill>
                          <a:latin typeface="Calibri" pitchFamily="34" charset="0"/>
                          <a:ea typeface="Calibri" pitchFamily="34" charset="-122"/>
                          <a:cs typeface="Calibri" pitchFamily="34" charset="-120"/>
                        </a:rPr>
                        <a:t>Alert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72%  (43)</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9E0B"/>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17%  (10)</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12%  (7)</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868680">
                <a:tc>
                  <a:txBody>
                    <a:bodyPr/>
                    <a:lstStyle/>
                    <a:p>
                      <a:pPr algn="l" indent="0" marL="0">
                        <a:buNone/>
                      </a:pPr>
                      <a:r>
                        <a:rPr lang="en-US" sz="1500" b="1" dirty="0">
                          <a:solidFill>
                            <a:srgbClr val="0F172A"/>
                          </a:solidFill>
                          <a:latin typeface="Calibri" pitchFamily="34" charset="0"/>
                          <a:ea typeface="Calibri" pitchFamily="34" charset="-122"/>
                          <a:cs typeface="Calibri" pitchFamily="34" charset="-120"/>
                        </a:rPr>
                        <a:t>Low vigilant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42%  (25)</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5E1"/>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32%  (19)</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34D"/>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27%  (16)</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868680">
                <a:tc>
                  <a:txBody>
                    <a:bodyPr/>
                    <a:lstStyle/>
                    <a:p>
                      <a:pPr algn="l" indent="0" marL="0">
                        <a:buNone/>
                      </a:pPr>
                      <a:r>
                        <a:rPr lang="en-US" sz="1500" b="1" dirty="0">
                          <a:solidFill>
                            <a:srgbClr val="0F172A"/>
                          </a:solidFill>
                          <a:latin typeface="Calibri" pitchFamily="34" charset="0"/>
                          <a:ea typeface="Calibri" pitchFamily="34" charset="-122"/>
                          <a:cs typeface="Calibri" pitchFamily="34" charset="-120"/>
                        </a:rPr>
                        <a:t>Drowsy</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10%  (6)</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34%  (21)</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5E1"/>
                    </a:solidFill>
                  </a:tcPr>
                </a:tc>
                <a:tc>
                  <a:txBody>
                    <a:bodyPr/>
                    <a:lstStyle/>
                    <a:p>
                      <a:pPr algn="ctr" indent="0" marL="0">
                        <a:buNone/>
                      </a:pPr>
                      <a:r>
                        <a:rPr lang="en-US" sz="1500" dirty="0">
                          <a:solidFill>
                            <a:srgbClr val="0F172A"/>
                          </a:solidFill>
                          <a:latin typeface="Calibri" pitchFamily="34" charset="0"/>
                          <a:ea typeface="Calibri" pitchFamily="34" charset="-122"/>
                          <a:cs typeface="Calibri" pitchFamily="34" charset="-120"/>
                        </a:rPr>
                        <a:t>56%  (35)</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9E0B"/>
                    </a:solidFill>
                  </a:tcPr>
                </a:tc>
              </a:tr>
            </a:tbl>
          </a:graphicData>
        </a:graphic>
      </p:graphicFrame>
      <p:sp>
        <p:nvSpPr>
          <p:cNvPr id="4" name="Text 1"/>
          <p:cNvSpPr txBox="1"/>
          <p:nvPr/>
        </p:nvSpPr>
        <p:spPr>
          <a:xfrm>
            <a:off x="548640" y="4892040"/>
            <a:ext cx="6035040" cy="914400"/>
          </a:xfrm>
          <a:prstGeom prst="rect">
            <a:avLst/>
          </a:prstGeom>
          <a:noFill/>
          <a:ln/>
        </p:spPr>
        <p:txBody>
          <a:bodyPr wrap="square" lIns="0" tIns="0" rIns="0" bIns="0" rtlCol="0" anchor="t"/>
          <a:lstStyle/>
          <a:p>
            <a:pPr indent="0" marL="0">
              <a:buNone/>
            </a:pPr>
            <a:r>
              <a:rPr lang="en-US" sz="1400" dirty="0">
                <a:solidFill>
                  <a:schemeClr val="accent3"/>
                </a:solidFill>
              </a:rPr>
              <a:t>Per video. Alert and drowsy are usually right; low vigilance is confused with both, as in the original paper and for its human judges.</a:t>
            </a:r>
            <a:endParaRPr lang="en-US" sz="1400" dirty="0"/>
          </a:p>
        </p:txBody>
      </p:sp>
      <p:graphicFrame>
        <p:nvGraphicFramePr>
          <p:cNvPr id="5" name="Chart 0" descr=""/>
          <p:cNvGraphicFramePr/>
          <p:nvPr/>
        </p:nvGraphicFramePr>
        <p:xfrm>
          <a:off x="6949440" y="1417320"/>
          <a:ext cx="466344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Eyes carry the most signal on their own; the ablation shows what each group adds</a:t>
            </a:r>
            <a:endParaRPr lang="en-US" sz="2800" dirty="0"/>
          </a:p>
        </p:txBody>
      </p:sp>
      <p:graphicFrame>
        <p:nvGraphicFramePr>
          <p:cNvPr id="3" name="Chart 0" descr=""/>
          <p:cNvGraphicFramePr/>
          <p:nvPr/>
        </p:nvGraphicFramePr>
        <p:xfrm>
          <a:off x="548640" y="1417320"/>
          <a:ext cx="640080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315200" y="1554480"/>
            <a:ext cx="429768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Most important features</a:t>
            </a:r>
            <a:endParaRPr lang="en-US" sz="1800" dirty="0"/>
          </a:p>
        </p:txBody>
      </p:sp>
      <p:sp>
        <p:nvSpPr>
          <p:cNvPr id="5" name="Text 2"/>
          <p:cNvSpPr txBox="1"/>
          <p:nvPr/>
        </p:nvSpPr>
        <p:spPr>
          <a:xfrm>
            <a:off x="7315200" y="2057400"/>
            <a:ext cx="4297680" cy="27432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closure std  (0.042)</a:t>
            </a:r>
            <a:endParaRPr lang="en-US" sz="1500" dirty="0"/>
          </a:p>
          <a:p>
            <a:pPr marL="342900" indent="-342900">
              <a:spcAft>
                <a:spcPts val="800"/>
              </a:spcAft>
              <a:buSzPct val="100000"/>
              <a:buFont typeface="+mj-lt"/>
              <a:buAutoNum type="arabicPeriod" startAt="1"/>
            </a:pPr>
            <a:r>
              <a:rPr lang="en-US" sz="1500" dirty="0">
                <a:solidFill>
                  <a:schemeClr val="tx1"/>
                </a:solidFill>
              </a:rPr>
              <a:t>blink mean  (0.022)</a:t>
            </a:r>
            <a:endParaRPr lang="en-US" sz="1500" dirty="0"/>
          </a:p>
          <a:p>
            <a:pPr marL="342900" indent="-342900">
              <a:spcAft>
                <a:spcPts val="800"/>
              </a:spcAft>
              <a:buSzPct val="100000"/>
              <a:buFont typeface="+mj-lt"/>
              <a:buAutoNum type="arabicPeriod" startAt="1"/>
            </a:pPr>
            <a:r>
              <a:rPr lang="en-US" sz="1500" dirty="0">
                <a:solidFill>
                  <a:schemeClr val="tx1"/>
                </a:solidFill>
              </a:rPr>
              <a:t>closure p90  (0.018)</a:t>
            </a:r>
            <a:endParaRPr lang="en-US" sz="1500" dirty="0"/>
          </a:p>
          <a:p>
            <a:pPr marL="342900" indent="-342900">
              <a:spcAft>
                <a:spcPts val="800"/>
              </a:spcAft>
              <a:buSzPct val="100000"/>
              <a:buFont typeface="+mj-lt"/>
              <a:buAutoNum type="arabicPeriod" startAt="1"/>
            </a:pPr>
            <a:r>
              <a:rPr lang="en-US" sz="1500" dirty="0">
                <a:solidFill>
                  <a:schemeClr val="tx1"/>
                </a:solidFill>
              </a:rPr>
              <a:t>longest closure ms  (0.012)</a:t>
            </a:r>
            <a:endParaRPr lang="en-US" sz="1500" dirty="0"/>
          </a:p>
          <a:p>
            <a:pPr marL="342900" indent="-342900">
              <a:spcAft>
                <a:spcPts val="800"/>
              </a:spcAft>
              <a:buSzPct val="100000"/>
              <a:buFont typeface="+mj-lt"/>
              <a:buAutoNum type="arabicPeriod" startAt="1"/>
            </a:pPr>
            <a:r>
              <a:rPr lang="en-US" sz="1500" dirty="0">
                <a:solidFill>
                  <a:schemeClr val="tx1"/>
                </a:solidFill>
              </a:rPr>
              <a:t>gaze deviation  (0.010)</a:t>
            </a:r>
            <a:endParaRPr lang="en-US" sz="1500" dirty="0"/>
          </a:p>
          <a:p>
            <a:pPr marL="342900" indent="-342900">
              <a:spcAft>
                <a:spcPts val="800"/>
              </a:spcAft>
              <a:buSzPct val="100000"/>
              <a:buFont typeface="+mj-lt"/>
              <a:buAutoNum type="arabicPeriod" startAt="1"/>
            </a:pPr>
            <a:r>
              <a:rPr lang="en-US" sz="1500" dirty="0">
                <a:solidFill>
                  <a:schemeClr val="tx1"/>
                </a:solidFill>
              </a:rPr>
              <a:t>ear mean  (0.009)</a:t>
            </a:r>
            <a:endParaRPr lang="en-US" sz="1500" dirty="0"/>
          </a:p>
        </p:txBody>
      </p:sp>
      <p:sp>
        <p:nvSpPr>
          <p:cNvPr id="6" name="Text 3"/>
          <p:cNvSpPr txBox="1"/>
          <p:nvPr/>
        </p:nvSpPr>
        <p:spPr>
          <a:xfrm>
            <a:off x="7315200" y="4846320"/>
            <a:ext cx="4297680" cy="1097280"/>
          </a:xfrm>
          <a:prstGeom prst="rect">
            <a:avLst/>
          </a:prstGeom>
          <a:noFill/>
          <a:ln/>
        </p:spPr>
        <p:txBody>
          <a:bodyPr wrap="square" lIns="0" tIns="0" rIns="0" bIns="0" rtlCol="0" anchor="t"/>
          <a:lstStyle/>
          <a:p>
            <a:pPr indent="0" marL="0">
              <a:buNone/>
            </a:pPr>
            <a:r>
              <a:rPr lang="en-US" sz="1300" dirty="0">
                <a:solidFill>
                  <a:schemeClr val="accent3"/>
                </a:solidFill>
              </a:rPr>
              <a:t>Permutation importance: drop in macro F1 when one feature is shuffled on held-out people. A group whose removal raises accuracy is adding noise for unseen people.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rule engine's event detectors, checked against human annotations</a:t>
            </a:r>
            <a:endParaRPr lang="en-US" sz="2800" dirty="0"/>
          </a:p>
        </p:txBody>
      </p:sp>
      <p:sp>
        <p:nvSpPr>
          <p:cNvPr id="3" name="event-blink"/>
          <p:cNvSpPr/>
          <p:nvPr/>
        </p:nvSpPr>
        <p:spPr>
          <a:xfrm>
            <a:off x="548640" y="1600200"/>
            <a:ext cx="5440680" cy="3108960"/>
          </a:xfrm>
          <a:prstGeom prst="roundRect">
            <a:avLst>
              <a:gd name="adj" fmla="val 3529"/>
            </a:avLst>
          </a:prstGeom>
          <a:solidFill>
            <a:schemeClr val="bg2"/>
          </a:solidFill>
          <a:ln w="9525">
            <a:solidFill>
              <a:schemeClr val="bg2"/>
            </a:solidFill>
            <a:prstDash val="solid"/>
          </a:ln>
        </p:spPr>
      </p:sp>
      <p:sp>
        <p:nvSpPr>
          <p:cNvPr id="4" name="Text 2"/>
          <p:cNvSpPr txBox="1"/>
          <p:nvPr/>
        </p:nvSpPr>
        <p:spPr>
          <a:xfrm>
            <a:off x="868680" y="1783080"/>
            <a:ext cx="4754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Blinks</a:t>
            </a:r>
            <a:endParaRPr lang="en-US" sz="2200" dirty="0"/>
          </a:p>
        </p:txBody>
      </p:sp>
      <p:sp>
        <p:nvSpPr>
          <p:cNvPr id="5" name="Text 3"/>
          <p:cNvSpPr txBox="1"/>
          <p:nvPr/>
        </p:nvSpPr>
        <p:spPr>
          <a:xfrm>
            <a:off x="868680" y="2377440"/>
            <a:ext cx="16459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87%</a:t>
            </a:r>
            <a:endParaRPr lang="en-US" sz="3600" dirty="0"/>
          </a:p>
        </p:txBody>
      </p:sp>
      <p:sp>
        <p:nvSpPr>
          <p:cNvPr id="6" name="Text 4"/>
          <p:cNvSpPr txBox="1"/>
          <p:nvPr/>
        </p:nvSpPr>
        <p:spPr>
          <a:xfrm>
            <a:off x="868680" y="3218688"/>
            <a:ext cx="1645920" cy="640080"/>
          </a:xfrm>
          <a:prstGeom prst="rect">
            <a:avLst/>
          </a:prstGeom>
          <a:noFill/>
          <a:ln/>
        </p:spPr>
        <p:txBody>
          <a:bodyPr wrap="square" lIns="0" tIns="0" rIns="0" bIns="0" rtlCol="0" anchor="t"/>
          <a:lstStyle/>
          <a:p>
            <a:pPr indent="0" marL="0">
              <a:buNone/>
            </a:pPr>
            <a:r>
              <a:rPr lang="en-US" sz="1300" dirty="0">
                <a:solidFill>
                  <a:schemeClr val="accent3"/>
                </a:solidFill>
              </a:rPr>
              <a:t>precision</a:t>
            </a:r>
            <a:endParaRPr lang="en-US" sz="1300" dirty="0"/>
          </a:p>
        </p:txBody>
      </p:sp>
      <p:sp>
        <p:nvSpPr>
          <p:cNvPr id="7" name="Text 5"/>
          <p:cNvSpPr txBox="1"/>
          <p:nvPr/>
        </p:nvSpPr>
        <p:spPr>
          <a:xfrm>
            <a:off x="2560320" y="2377440"/>
            <a:ext cx="164592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63%</a:t>
            </a:r>
            <a:endParaRPr lang="en-US" sz="3600" dirty="0"/>
          </a:p>
        </p:txBody>
      </p:sp>
      <p:sp>
        <p:nvSpPr>
          <p:cNvPr id="8" name="Text 6"/>
          <p:cNvSpPr txBox="1"/>
          <p:nvPr/>
        </p:nvSpPr>
        <p:spPr>
          <a:xfrm>
            <a:off x="2560320" y="3218688"/>
            <a:ext cx="1645920" cy="640080"/>
          </a:xfrm>
          <a:prstGeom prst="rect">
            <a:avLst/>
          </a:prstGeom>
          <a:noFill/>
          <a:ln/>
        </p:spPr>
        <p:txBody>
          <a:bodyPr wrap="square" lIns="0" tIns="0" rIns="0" bIns="0" rtlCol="0" anchor="t"/>
          <a:lstStyle/>
          <a:p>
            <a:pPr indent="0" marL="0">
              <a:buNone/>
            </a:pPr>
            <a:r>
              <a:rPr lang="en-US" sz="1300" dirty="0">
                <a:solidFill>
                  <a:schemeClr val="accent3"/>
                </a:solidFill>
              </a:rPr>
              <a:t>recall</a:t>
            </a:r>
            <a:endParaRPr lang="en-US" sz="1300" dirty="0"/>
          </a:p>
        </p:txBody>
      </p:sp>
      <p:sp>
        <p:nvSpPr>
          <p:cNvPr id="9" name="Text 7"/>
          <p:cNvSpPr txBox="1"/>
          <p:nvPr/>
        </p:nvSpPr>
        <p:spPr>
          <a:xfrm>
            <a:off x="4251960" y="2377440"/>
            <a:ext cx="1645920" cy="82296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186</a:t>
            </a:r>
            <a:endParaRPr lang="en-US" sz="3600" dirty="0"/>
          </a:p>
        </p:txBody>
      </p:sp>
      <p:sp>
        <p:nvSpPr>
          <p:cNvPr id="10" name="Text 8"/>
          <p:cNvSpPr txBox="1"/>
          <p:nvPr/>
        </p:nvSpPr>
        <p:spPr>
          <a:xfrm>
            <a:off x="4251960" y="3218688"/>
            <a:ext cx="1645920" cy="640080"/>
          </a:xfrm>
          <a:prstGeom prst="rect">
            <a:avLst/>
          </a:prstGeom>
          <a:noFill/>
          <a:ln/>
        </p:spPr>
        <p:txBody>
          <a:bodyPr wrap="square" lIns="0" tIns="0" rIns="0" bIns="0" rtlCol="0" anchor="t"/>
          <a:lstStyle/>
          <a:p>
            <a:pPr indent="0" marL="0">
              <a:buNone/>
            </a:pPr>
            <a:r>
              <a:rPr lang="en-US" sz="1300" dirty="0">
                <a:solidFill>
                  <a:schemeClr val="accent3"/>
                </a:solidFill>
              </a:rPr>
              <a:t>false events / hour</a:t>
            </a:r>
            <a:endParaRPr lang="en-US" sz="1300" dirty="0"/>
          </a:p>
        </p:txBody>
      </p:sp>
      <p:sp>
        <p:nvSpPr>
          <p:cNvPr id="11" name="Text 9"/>
          <p:cNvSpPr txBox="1"/>
          <p:nvPr/>
        </p:nvSpPr>
        <p:spPr>
          <a:xfrm>
            <a:off x="868680" y="4069080"/>
            <a:ext cx="4754880" cy="411480"/>
          </a:xfrm>
          <a:prstGeom prst="rect">
            <a:avLst/>
          </a:prstGeom>
          <a:noFill/>
          <a:ln/>
        </p:spPr>
        <p:txBody>
          <a:bodyPr wrap="square" lIns="0" tIns="0" rIns="0" bIns="0" rtlCol="0" anchor="ctr"/>
          <a:lstStyle/>
          <a:p>
            <a:pPr indent="0" marL="0">
              <a:buNone/>
            </a:pPr>
            <a:r>
              <a:rPr lang="en-US" sz="1300" dirty="0">
                <a:solidFill>
                  <a:schemeClr val="accent3"/>
                </a:solidFill>
              </a:rPr>
              <a:t>1026 matched, 153 spurious, 609 missed</a:t>
            </a:r>
            <a:endParaRPr lang="en-US" sz="1300" dirty="0"/>
          </a:p>
        </p:txBody>
      </p:sp>
      <p:sp>
        <p:nvSpPr>
          <p:cNvPr id="12" name="event-yawn"/>
          <p:cNvSpPr/>
          <p:nvPr/>
        </p:nvSpPr>
        <p:spPr>
          <a:xfrm>
            <a:off x="6172200" y="1600200"/>
            <a:ext cx="5440680" cy="3108960"/>
          </a:xfrm>
          <a:prstGeom prst="roundRect">
            <a:avLst>
              <a:gd name="adj" fmla="val 3529"/>
            </a:avLst>
          </a:prstGeom>
          <a:solidFill>
            <a:schemeClr val="bg2"/>
          </a:solidFill>
          <a:ln w="9525">
            <a:solidFill>
              <a:schemeClr val="bg2"/>
            </a:solidFill>
            <a:prstDash val="solid"/>
          </a:ln>
        </p:spPr>
      </p:sp>
      <p:sp>
        <p:nvSpPr>
          <p:cNvPr id="13" name="Text 11"/>
          <p:cNvSpPr txBox="1"/>
          <p:nvPr/>
        </p:nvSpPr>
        <p:spPr>
          <a:xfrm>
            <a:off x="6492240" y="1783080"/>
            <a:ext cx="4754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Yawns</a:t>
            </a:r>
            <a:endParaRPr lang="en-US" sz="2200" dirty="0"/>
          </a:p>
        </p:txBody>
      </p:sp>
      <p:sp>
        <p:nvSpPr>
          <p:cNvPr id="14" name="Text 12"/>
          <p:cNvSpPr txBox="1"/>
          <p:nvPr/>
        </p:nvSpPr>
        <p:spPr>
          <a:xfrm>
            <a:off x="6492240" y="2377440"/>
            <a:ext cx="16459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70%</a:t>
            </a:r>
            <a:endParaRPr lang="en-US" sz="3600" dirty="0"/>
          </a:p>
        </p:txBody>
      </p:sp>
      <p:sp>
        <p:nvSpPr>
          <p:cNvPr id="15" name="Text 13"/>
          <p:cNvSpPr txBox="1"/>
          <p:nvPr/>
        </p:nvSpPr>
        <p:spPr>
          <a:xfrm>
            <a:off x="6492240" y="3218688"/>
            <a:ext cx="1645920" cy="640080"/>
          </a:xfrm>
          <a:prstGeom prst="rect">
            <a:avLst/>
          </a:prstGeom>
          <a:noFill/>
          <a:ln/>
        </p:spPr>
        <p:txBody>
          <a:bodyPr wrap="square" lIns="0" tIns="0" rIns="0" bIns="0" rtlCol="0" anchor="t"/>
          <a:lstStyle/>
          <a:p>
            <a:pPr indent="0" marL="0">
              <a:buNone/>
            </a:pPr>
            <a:r>
              <a:rPr lang="en-US" sz="1300" dirty="0">
                <a:solidFill>
                  <a:schemeClr val="accent3"/>
                </a:solidFill>
              </a:rPr>
              <a:t>precision</a:t>
            </a:r>
            <a:endParaRPr lang="en-US" sz="1300" dirty="0"/>
          </a:p>
        </p:txBody>
      </p:sp>
      <p:sp>
        <p:nvSpPr>
          <p:cNvPr id="16" name="Text 14"/>
          <p:cNvSpPr txBox="1"/>
          <p:nvPr/>
        </p:nvSpPr>
        <p:spPr>
          <a:xfrm>
            <a:off x="8183880" y="2377440"/>
            <a:ext cx="164592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39%</a:t>
            </a:r>
            <a:endParaRPr lang="en-US" sz="3600" dirty="0"/>
          </a:p>
        </p:txBody>
      </p:sp>
      <p:sp>
        <p:nvSpPr>
          <p:cNvPr id="17" name="Text 15"/>
          <p:cNvSpPr txBox="1"/>
          <p:nvPr/>
        </p:nvSpPr>
        <p:spPr>
          <a:xfrm>
            <a:off x="8183880" y="3218688"/>
            <a:ext cx="1645920" cy="640080"/>
          </a:xfrm>
          <a:prstGeom prst="rect">
            <a:avLst/>
          </a:prstGeom>
          <a:noFill/>
          <a:ln/>
        </p:spPr>
        <p:txBody>
          <a:bodyPr wrap="square" lIns="0" tIns="0" rIns="0" bIns="0" rtlCol="0" anchor="t"/>
          <a:lstStyle/>
          <a:p>
            <a:pPr indent="0" marL="0">
              <a:buNone/>
            </a:pPr>
            <a:r>
              <a:rPr lang="en-US" sz="1300" dirty="0">
                <a:solidFill>
                  <a:schemeClr val="accent3"/>
                </a:solidFill>
              </a:rPr>
              <a:t>recall</a:t>
            </a:r>
            <a:endParaRPr lang="en-US" sz="1300" dirty="0"/>
          </a:p>
        </p:txBody>
      </p:sp>
      <p:sp>
        <p:nvSpPr>
          <p:cNvPr id="18" name="Text 16"/>
          <p:cNvSpPr txBox="1"/>
          <p:nvPr/>
        </p:nvSpPr>
        <p:spPr>
          <a:xfrm>
            <a:off x="9875520" y="2377440"/>
            <a:ext cx="1645920" cy="82296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16</a:t>
            </a:r>
            <a:endParaRPr lang="en-US" sz="3600" dirty="0"/>
          </a:p>
        </p:txBody>
      </p:sp>
      <p:sp>
        <p:nvSpPr>
          <p:cNvPr id="19" name="Text 17"/>
          <p:cNvSpPr txBox="1"/>
          <p:nvPr/>
        </p:nvSpPr>
        <p:spPr>
          <a:xfrm>
            <a:off x="9875520" y="3218688"/>
            <a:ext cx="1645920" cy="640080"/>
          </a:xfrm>
          <a:prstGeom prst="rect">
            <a:avLst/>
          </a:prstGeom>
          <a:noFill/>
          <a:ln/>
        </p:spPr>
        <p:txBody>
          <a:bodyPr wrap="square" lIns="0" tIns="0" rIns="0" bIns="0" rtlCol="0" anchor="t"/>
          <a:lstStyle/>
          <a:p>
            <a:pPr indent="0" marL="0">
              <a:buNone/>
            </a:pPr>
            <a:r>
              <a:rPr lang="en-US" sz="1300" dirty="0">
                <a:solidFill>
                  <a:schemeClr val="accent3"/>
                </a:solidFill>
              </a:rPr>
              <a:t>false events / hour</a:t>
            </a:r>
            <a:endParaRPr lang="en-US" sz="1300" dirty="0"/>
          </a:p>
        </p:txBody>
      </p:sp>
      <p:sp>
        <p:nvSpPr>
          <p:cNvPr id="20" name="Text 18"/>
          <p:cNvSpPr txBox="1"/>
          <p:nvPr/>
        </p:nvSpPr>
        <p:spPr>
          <a:xfrm>
            <a:off x="6492240" y="4069080"/>
            <a:ext cx="4754880" cy="411480"/>
          </a:xfrm>
          <a:prstGeom prst="rect">
            <a:avLst/>
          </a:prstGeom>
          <a:noFill/>
          <a:ln/>
        </p:spPr>
        <p:txBody>
          <a:bodyPr wrap="square" lIns="0" tIns="0" rIns="0" bIns="0" rtlCol="0" anchor="ctr"/>
          <a:lstStyle/>
          <a:p>
            <a:pPr indent="0" marL="0">
              <a:buNone/>
            </a:pPr>
            <a:r>
              <a:rPr lang="en-US" sz="1300" dirty="0">
                <a:solidFill>
                  <a:schemeClr val="accent3"/>
                </a:solidFill>
              </a:rPr>
              <a:t>30 matched, 13 spurious, 46 missed</a:t>
            </a:r>
            <a:endParaRPr lang="en-US" sz="1300" dirty="0"/>
          </a:p>
        </p:txBody>
      </p:sp>
      <p:sp>
        <p:nvSpPr>
          <p:cNvPr id="21" name="Text 19"/>
          <p:cNvSpPr txBox="1"/>
          <p:nvPr/>
        </p:nvSpPr>
        <p:spPr>
          <a:xfrm>
            <a:off x="548640" y="5029200"/>
            <a:ext cx="11064240" cy="914400"/>
          </a:xfrm>
          <a:prstGeom prst="rect">
            <a:avLst/>
          </a:prstGeom>
          <a:noFill/>
          <a:ln/>
        </p:spPr>
        <p:txBody>
          <a:bodyPr wrap="square" lIns="0" tIns="0" rIns="0" bIns="0" rtlCol="0" anchor="ctr"/>
          <a:lstStyle/>
          <a:p>
            <a:pPr indent="0" marL="0">
              <a:buNone/>
            </a:pPr>
            <a:r>
              <a:rPr lang="en-US" sz="1500" dirty="0">
                <a:solidFill>
                  <a:schemeClr val="tx1"/>
                </a:solidFill>
              </a:rPr>
              <a:t>The unchanged JavaScript engine replayed over 16 DMD sessions (49 minutes). Yawn recall is limited by yawns behind a hand, which hide the mouth from any camera-only method; a stated limitation, not hidden.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Model Lab: every result live in the app, and all models side by side on your webcam</a:t>
            </a:r>
            <a:endParaRPr lang="en-US" sz="2800" dirty="0"/>
          </a:p>
        </p:txBody>
      </p:sp>
      <p:pic>
        <p:nvPicPr>
          <p:cNvPr id="3" name="Image 0" descr="Screenshot of the Model Lab page">    </p:cNvPr>
          <p:cNvPicPr>
            <a:picLocks noChangeAspect="1"/>
          </p:cNvPicPr>
          <p:nvPr/>
        </p:nvPicPr>
        <p:blipFill>
          <a:blip r:embed="rId1"/>
          <a:srcRect l="0" r="0" t="0" b="0"/>
          <a:stretch/>
        </p:blipFill>
        <p:spPr>
          <a:xfrm>
            <a:off x="548640" y="1417320"/>
            <a:ext cx="6949440" cy="4526280"/>
          </a:xfrm>
          <a:prstGeom prst="rect">
            <a:avLst/>
          </a:prstGeom>
        </p:spPr>
      </p:pic>
      <p:sp>
        <p:nvSpPr>
          <p:cNvPr id="4" name="Text 1"/>
          <p:cNvSpPr txBox="1"/>
          <p:nvPr/>
        </p:nvSpPr>
        <p:spPr>
          <a:xfrm>
            <a:off x="7863840" y="1554480"/>
            <a:ext cx="37490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Shadow mode</a:t>
            </a:r>
            <a:endParaRPr lang="en-US" sz="1800" dirty="0"/>
          </a:p>
        </p:txBody>
      </p:sp>
      <p:sp>
        <p:nvSpPr>
          <p:cNvPr id="5" name="Text 2"/>
          <p:cNvSpPr txBox="1"/>
          <p:nvPr/>
        </p:nvSpPr>
        <p:spPr>
          <a:xfrm>
            <a:off x="7863840" y="1965960"/>
            <a:ext cx="3749040" cy="914400"/>
          </a:xfrm>
          <a:prstGeom prst="rect">
            <a:avLst/>
          </a:prstGeom>
          <a:noFill/>
          <a:ln/>
        </p:spPr>
        <p:txBody>
          <a:bodyPr wrap="square" lIns="0" tIns="0" rIns="0" bIns="0" rtlCol="0" anchor="t"/>
          <a:lstStyle/>
          <a:p>
            <a:pPr indent="0" marL="0">
              <a:buNone/>
            </a:pPr>
            <a:r>
              <a:rPr lang="en-US" sz="1400" dirty="0">
                <a:solidFill>
                  <a:schemeClr val="tx1"/>
                </a:solidFill>
              </a:rPr>
              <a:t>Rule engine, EyeNet and GRU score the same frames in parallel, with the CNN's eye crops shown live.</a:t>
            </a:r>
            <a:endParaRPr lang="en-US" sz="1400" dirty="0"/>
          </a:p>
        </p:txBody>
      </p:sp>
      <p:sp>
        <p:nvSpPr>
          <p:cNvPr id="6" name="Text 3"/>
          <p:cNvSpPr txBox="1"/>
          <p:nvPr/>
        </p:nvSpPr>
        <p:spPr>
          <a:xfrm>
            <a:off x="7863840" y="3017520"/>
            <a:ext cx="37490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Results explorer</a:t>
            </a:r>
            <a:endParaRPr lang="en-US" sz="1800" dirty="0"/>
          </a:p>
        </p:txBody>
      </p:sp>
      <p:sp>
        <p:nvSpPr>
          <p:cNvPr id="7" name="Text 4"/>
          <p:cNvSpPr txBox="1"/>
          <p:nvPr/>
        </p:nvSpPr>
        <p:spPr>
          <a:xfrm>
            <a:off x="7863840" y="3429000"/>
            <a:ext cx="3749040" cy="914400"/>
          </a:xfrm>
          <a:prstGeom prst="rect">
            <a:avLst/>
          </a:prstGeom>
          <a:noFill/>
          <a:ln/>
        </p:spPr>
        <p:txBody>
          <a:bodyPr wrap="square" lIns="0" tIns="0" rIns="0" bIns="0" rtlCol="0" anchor="t"/>
          <a:lstStyle/>
          <a:p>
            <a:pPr indent="0" marL="0">
              <a:buNone/>
            </a:pPr>
            <a:r>
              <a:rPr lang="en-US" sz="1400" dirty="0">
                <a:solidFill>
                  <a:schemeClr val="tx1"/>
                </a:solidFill>
              </a:rPr>
              <a:t>Model comparison with intervals, confusion matrices, reliability, ablation; switch metric and model.</a:t>
            </a:r>
            <a:endParaRPr lang="en-US" sz="1400" dirty="0"/>
          </a:p>
        </p:txBody>
      </p:sp>
      <p:sp>
        <p:nvSpPr>
          <p:cNvPr id="8" name="Text 5"/>
          <p:cNvSpPr txBox="1"/>
          <p:nvPr/>
        </p:nvSpPr>
        <p:spPr>
          <a:xfrm>
            <a:off x="7863840" y="4480560"/>
            <a:ext cx="37490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 hand-typed numbers</a:t>
            </a:r>
            <a:endParaRPr lang="en-US" sz="1800" dirty="0"/>
          </a:p>
        </p:txBody>
      </p:sp>
      <p:sp>
        <p:nvSpPr>
          <p:cNvPr id="9" name="Text 6"/>
          <p:cNvSpPr txBox="1"/>
          <p:nvPr/>
        </p:nvSpPr>
        <p:spPr>
          <a:xfrm>
            <a:off x="7863840" y="4892040"/>
            <a:ext cx="3749040" cy="914400"/>
          </a:xfrm>
          <a:prstGeom prst="rect">
            <a:avLst/>
          </a:prstGeom>
          <a:noFill/>
          <a:ln/>
        </p:spPr>
        <p:txBody>
          <a:bodyPr wrap="square" lIns="0" tIns="0" rIns="0" bIns="0" rtlCol="0" anchor="t"/>
          <a:lstStyle/>
          <a:p>
            <a:pPr indent="0" marL="0">
              <a:buNone/>
            </a:pPr>
            <a:r>
              <a:rPr lang="en-US" sz="1400" dirty="0">
                <a:solidFill>
                  <a:schemeClr val="tx1"/>
                </a:solidFill>
              </a:rPr>
              <a:t>The page reads the same JSON the training scripts write.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What these results do not show</a:t>
            </a:r>
            <a:endParaRPr lang="en-US" sz="2800" dirty="0"/>
          </a:p>
        </p:txBody>
      </p:sp>
      <p:sp>
        <p:nvSpPr>
          <p:cNvPr id="3" name="limit-0"/>
          <p:cNvSpPr/>
          <p:nvPr/>
        </p:nvSpPr>
        <p:spPr>
          <a:xfrm>
            <a:off x="548640" y="1600200"/>
            <a:ext cx="5440680" cy="1874520"/>
          </a:xfrm>
          <a:prstGeom prst="roundRect">
            <a:avLst>
              <a:gd name="adj" fmla="val 5854"/>
            </a:avLst>
          </a:prstGeom>
          <a:solidFill>
            <a:schemeClr val="bg2"/>
          </a:solidFill>
          <a:ln w="9525">
            <a:solidFill>
              <a:schemeClr val="bg2"/>
            </a:solidFill>
            <a:prstDash val="solid"/>
          </a:ln>
        </p:spPr>
      </p:sp>
      <p:sp>
        <p:nvSpPr>
          <p:cNvPr id="4" name="Text 2"/>
          <p:cNvSpPr txBox="1"/>
          <p:nvPr/>
        </p:nvSpPr>
        <p:spPr>
          <a:xfrm>
            <a:off x="868680" y="1874520"/>
            <a:ext cx="484632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Not a crash predictor</a:t>
            </a:r>
            <a:endParaRPr lang="en-US" sz="1900" dirty="0"/>
          </a:p>
        </p:txBody>
      </p:sp>
      <p:sp>
        <p:nvSpPr>
          <p:cNvPr id="5" name="Text 3"/>
          <p:cNvSpPr txBox="1"/>
          <p:nvPr/>
        </p:nvSpPr>
        <p:spPr>
          <a:xfrm>
            <a:off x="868680" y="2377440"/>
            <a:ext cx="4846320" cy="914400"/>
          </a:xfrm>
          <a:prstGeom prst="rect">
            <a:avLst/>
          </a:prstGeom>
          <a:noFill/>
          <a:ln/>
        </p:spPr>
        <p:txBody>
          <a:bodyPr wrap="square" lIns="0" tIns="0" rIns="0" bIns="0" rtlCol="0" anchor="t"/>
          <a:lstStyle/>
          <a:p>
            <a:pPr indent="0" marL="0">
              <a:buNone/>
            </a:pPr>
            <a:r>
              <a:rPr lang="en-US" sz="1500" dirty="0">
                <a:solidFill>
                  <a:schemeClr val="tx1"/>
                </a:solidFill>
              </a:rPr>
              <a:t>Labels are self-rated sleepiness (RLDD) and eye state (DMD), not driving performance.</a:t>
            </a:r>
            <a:endParaRPr lang="en-US" sz="1500" dirty="0"/>
          </a:p>
        </p:txBody>
      </p:sp>
      <p:sp>
        <p:nvSpPr>
          <p:cNvPr id="6" name="limit-1"/>
          <p:cNvSpPr/>
          <p:nvPr/>
        </p:nvSpPr>
        <p:spPr>
          <a:xfrm>
            <a:off x="6172200" y="1600200"/>
            <a:ext cx="5440680" cy="1874520"/>
          </a:xfrm>
          <a:prstGeom prst="roundRect">
            <a:avLst>
              <a:gd name="adj" fmla="val 5854"/>
            </a:avLst>
          </a:prstGeom>
          <a:solidFill>
            <a:schemeClr val="bg2"/>
          </a:solidFill>
          <a:ln w="9525">
            <a:solidFill>
              <a:schemeClr val="bg2"/>
            </a:solidFill>
            <a:prstDash val="solid"/>
          </a:ln>
        </p:spPr>
      </p:sp>
      <p:sp>
        <p:nvSpPr>
          <p:cNvPr id="7" name="Text 5"/>
          <p:cNvSpPr txBox="1"/>
          <p:nvPr/>
        </p:nvSpPr>
        <p:spPr>
          <a:xfrm>
            <a:off x="6492240" y="1874520"/>
            <a:ext cx="484632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Small DMD subset</a:t>
            </a:r>
            <a:endParaRPr lang="en-US" sz="1900" dirty="0"/>
          </a:p>
        </p:txBody>
      </p:sp>
      <p:sp>
        <p:nvSpPr>
          <p:cNvPr id="8" name="Text 6"/>
          <p:cNvSpPr txBox="1"/>
          <p:nvPr/>
        </p:nvSpPr>
        <p:spPr>
          <a:xfrm>
            <a:off x="6492240" y="2377440"/>
            <a:ext cx="4846320" cy="914400"/>
          </a:xfrm>
          <a:prstGeom prst="rect">
            <a:avLst/>
          </a:prstGeom>
          <a:noFill/>
          <a:ln/>
        </p:spPr>
        <p:txBody>
          <a:bodyPr wrap="square" lIns="0" tIns="0" rIns="0" bIns="0" rtlCol="0" anchor="t"/>
          <a:lstStyle/>
          <a:p>
            <a:pPr indent="0" marL="0">
              <a:buNone/>
            </a:pPr>
            <a:r>
              <a:rPr lang="en-US" sz="1500" dirty="0">
                <a:solidFill>
                  <a:schemeClr val="tx1"/>
                </a:solidFill>
              </a:rPr>
              <a:t>13 drivers in the public mirror; wide intervals for per-driver results.</a:t>
            </a:r>
            <a:endParaRPr lang="en-US" sz="1500" dirty="0"/>
          </a:p>
        </p:txBody>
      </p:sp>
      <p:sp>
        <p:nvSpPr>
          <p:cNvPr id="9" name="limit-2"/>
          <p:cNvSpPr/>
          <p:nvPr/>
        </p:nvSpPr>
        <p:spPr>
          <a:xfrm>
            <a:off x="548640" y="3703320"/>
            <a:ext cx="5440680" cy="1874520"/>
          </a:xfrm>
          <a:prstGeom prst="roundRect">
            <a:avLst>
              <a:gd name="adj" fmla="val 5854"/>
            </a:avLst>
          </a:prstGeom>
          <a:solidFill>
            <a:schemeClr val="bg2"/>
          </a:solidFill>
          <a:ln w="9525">
            <a:solidFill>
              <a:schemeClr val="bg2"/>
            </a:solidFill>
            <a:prstDash val="solid"/>
          </a:ln>
        </p:spPr>
      </p:sp>
      <p:sp>
        <p:nvSpPr>
          <p:cNvPr id="10" name="Text 8"/>
          <p:cNvSpPr txBox="1"/>
          <p:nvPr/>
        </p:nvSpPr>
        <p:spPr>
          <a:xfrm>
            <a:off x="868680" y="3977640"/>
            <a:ext cx="484632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Hard middle class</a:t>
            </a:r>
            <a:endParaRPr lang="en-US" sz="1900" dirty="0"/>
          </a:p>
        </p:txBody>
      </p:sp>
      <p:sp>
        <p:nvSpPr>
          <p:cNvPr id="11" name="Text 9"/>
          <p:cNvSpPr txBox="1"/>
          <p:nvPr/>
        </p:nvSpPr>
        <p:spPr>
          <a:xfrm>
            <a:off x="868680" y="4480560"/>
            <a:ext cx="4846320" cy="914400"/>
          </a:xfrm>
          <a:prstGeom prst="rect">
            <a:avLst/>
          </a:prstGeom>
          <a:noFill/>
          <a:ln/>
        </p:spPr>
        <p:txBody>
          <a:bodyPr wrap="square" lIns="0" tIns="0" rIns="0" bIns="0" rtlCol="0" anchor="t"/>
          <a:lstStyle/>
          <a:p>
            <a:pPr indent="0" marL="0">
              <a:buNone/>
            </a:pPr>
            <a:r>
              <a:rPr lang="en-US" sz="1500" dirty="0">
                <a:solidFill>
                  <a:schemeClr val="tx1"/>
                </a:solidFill>
              </a:rPr>
              <a:t>Low vigilance is confused with both neighbours, by models and by people.</a:t>
            </a:r>
            <a:endParaRPr lang="en-US" sz="1500" dirty="0"/>
          </a:p>
        </p:txBody>
      </p:sp>
      <p:sp>
        <p:nvSpPr>
          <p:cNvPr id="12" name="limit-3"/>
          <p:cNvSpPr/>
          <p:nvPr/>
        </p:nvSpPr>
        <p:spPr>
          <a:xfrm>
            <a:off x="6172200" y="3703320"/>
            <a:ext cx="5440680" cy="1874520"/>
          </a:xfrm>
          <a:prstGeom prst="roundRect">
            <a:avLst>
              <a:gd name="adj" fmla="val 5854"/>
            </a:avLst>
          </a:prstGeom>
          <a:solidFill>
            <a:schemeClr val="bg2"/>
          </a:solidFill>
          <a:ln w="9525">
            <a:solidFill>
              <a:schemeClr val="bg2"/>
            </a:solidFill>
            <a:prstDash val="solid"/>
          </a:ln>
        </p:spPr>
      </p:sp>
      <p:sp>
        <p:nvSpPr>
          <p:cNvPr id="13" name="Text 11"/>
          <p:cNvSpPr txBox="1"/>
          <p:nvPr/>
        </p:nvSpPr>
        <p:spPr>
          <a:xfrm>
            <a:off x="6492240" y="3977640"/>
            <a:ext cx="484632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Camera-only</a:t>
            </a:r>
            <a:endParaRPr lang="en-US" sz="1900" dirty="0"/>
          </a:p>
        </p:txBody>
      </p:sp>
      <p:sp>
        <p:nvSpPr>
          <p:cNvPr id="14" name="Text 12"/>
          <p:cNvSpPr txBox="1"/>
          <p:nvPr/>
        </p:nvSpPr>
        <p:spPr>
          <a:xfrm>
            <a:off x="6492240" y="4480560"/>
            <a:ext cx="4846320" cy="914400"/>
          </a:xfrm>
          <a:prstGeom prst="rect">
            <a:avLst/>
          </a:prstGeom>
          <a:noFill/>
          <a:ln/>
        </p:spPr>
        <p:txBody>
          <a:bodyPr wrap="square" lIns="0" tIns="0" rIns="0" bIns="0" rtlCol="0" anchor="t"/>
          <a:lstStyle/>
          <a:p>
            <a:pPr indent="0" marL="0">
              <a:buNone/>
            </a:pPr>
            <a:r>
              <a:rPr lang="en-US" sz="1500" dirty="0">
                <a:solidFill>
                  <a:schemeClr val="tx1"/>
                </a:solidFill>
              </a:rPr>
              <a:t>Sunglasses, a hand over the mouth, night without IR, and extreme angles remain failure cases.</a:t>
            </a:r>
            <a:endParaRPr lang="en-US" sz="1500" dirty="0"/>
          </a:p>
        </p:txBody>
      </p:sp>
      <p:sp>
        <p:nvSpPr>
          <p:cNvPr id="15" name="Text 13"/>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500" i="1" dirty="0">
                <a:solidFill>
                  <a:schemeClr val="accent2"/>
                </a:solidFill>
              </a:rPr>
              <a:t>Next: a simulator study linking alerts to lane deviation, infrared night profiles, and per-driver fine-tuning from calibration.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Summary</a:t>
            </a:r>
            <a:endParaRPr lang="en-US" sz="2800" dirty="0"/>
          </a:p>
        </p:txBody>
      </p:sp>
      <p:sp>
        <p:nvSpPr>
          <p:cNvPr id="3" name="Text 1"/>
          <p:cNvSpPr txBox="1"/>
          <p:nvPr/>
        </p:nvSpPr>
        <p:spPr>
          <a:xfrm>
            <a:off x="548640" y="1737360"/>
            <a:ext cx="347472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0.998</a:t>
            </a:r>
            <a:endParaRPr lang="en-US" sz="4800" dirty="0"/>
          </a:p>
        </p:txBody>
      </p:sp>
      <p:sp>
        <p:nvSpPr>
          <p:cNvPr id="4" name="Text 2"/>
          <p:cNvSpPr txBox="1"/>
          <p:nvPr/>
        </p:nvSpPr>
        <p:spPr>
          <a:xfrm>
            <a:off x="548640" y="2578608"/>
            <a:ext cx="3474720" cy="640080"/>
          </a:xfrm>
          <a:prstGeom prst="rect">
            <a:avLst/>
          </a:prstGeom>
          <a:noFill/>
          <a:ln/>
        </p:spPr>
        <p:txBody>
          <a:bodyPr wrap="square" lIns="0" tIns="0" rIns="0" bIns="0" rtlCol="0" anchor="t"/>
          <a:lstStyle/>
          <a:p>
            <a:pPr indent="0" marL="0">
              <a:buNone/>
            </a:pPr>
            <a:r>
              <a:rPr lang="en-US" sz="1300" dirty="0">
                <a:solidFill>
                  <a:schemeClr val="accent6"/>
                </a:solidFill>
              </a:rPr>
              <a:t>eye-state AUC on unseen drivers</a:t>
            </a:r>
            <a:endParaRPr lang="en-US" sz="1300" dirty="0"/>
          </a:p>
        </p:txBody>
      </p:sp>
      <p:sp>
        <p:nvSpPr>
          <p:cNvPr id="5" name="Text 3"/>
          <p:cNvSpPr txBox="1"/>
          <p:nvPr/>
        </p:nvSpPr>
        <p:spPr>
          <a:xfrm>
            <a:off x="4297680" y="1737360"/>
            <a:ext cx="347472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53.3%</a:t>
            </a:r>
            <a:endParaRPr lang="en-US" sz="4800" dirty="0"/>
          </a:p>
        </p:txBody>
      </p:sp>
      <p:sp>
        <p:nvSpPr>
          <p:cNvPr id="6" name="Text 4"/>
          <p:cNvSpPr txBox="1"/>
          <p:nvPr/>
        </p:nvSpPr>
        <p:spPr>
          <a:xfrm>
            <a:off x="4297680" y="2578608"/>
            <a:ext cx="3474720" cy="640080"/>
          </a:xfrm>
          <a:prstGeom prst="rect">
            <a:avLst/>
          </a:prstGeom>
          <a:noFill/>
          <a:ln/>
        </p:spPr>
        <p:txBody>
          <a:bodyPr wrap="square" lIns="0" tIns="0" rIns="0" bIns="0" rtlCol="0" anchor="t"/>
          <a:lstStyle/>
          <a:p>
            <a:pPr indent="0" marL="0">
              <a:buNone/>
            </a:pPr>
            <a:r>
              <a:rPr lang="en-US" sz="1300" dirty="0">
                <a:solidFill>
                  <a:schemeClr val="accent6"/>
                </a:solidFill>
              </a:rPr>
              <a:t>drowsiness video accuracy on 60 unseen people (published 65.2%)</a:t>
            </a:r>
            <a:endParaRPr lang="en-US" sz="1300" dirty="0"/>
          </a:p>
        </p:txBody>
      </p:sp>
      <p:sp>
        <p:nvSpPr>
          <p:cNvPr id="7" name="Text 5"/>
          <p:cNvSpPr txBox="1"/>
          <p:nvPr/>
        </p:nvSpPr>
        <p:spPr>
          <a:xfrm>
            <a:off x="8046720" y="1737360"/>
            <a:ext cx="347472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0.948</a:t>
            </a:r>
            <a:endParaRPr lang="en-US" sz="4800" dirty="0"/>
          </a:p>
        </p:txBody>
      </p:sp>
      <p:sp>
        <p:nvSpPr>
          <p:cNvPr id="8" name="Text 6"/>
          <p:cNvSpPr txBox="1"/>
          <p:nvPr/>
        </p:nvSpPr>
        <p:spPr>
          <a:xfrm>
            <a:off x="8046720" y="2578608"/>
            <a:ext cx="3474720" cy="640080"/>
          </a:xfrm>
          <a:prstGeom prst="rect">
            <a:avLst/>
          </a:prstGeom>
          <a:noFill/>
          <a:ln/>
        </p:spPr>
        <p:txBody>
          <a:bodyPr wrap="square" lIns="0" tIns="0" rIns="0" bIns="0" rtlCol="0" anchor="t"/>
          <a:lstStyle/>
          <a:p>
            <a:pPr indent="0" marL="0">
              <a:buNone/>
            </a:pPr>
            <a:r>
              <a:rPr lang="en-US" sz="1300" dirty="0">
                <a:solidFill>
                  <a:schemeClr val="accent6"/>
                </a:solidFill>
              </a:rPr>
              <a:t>closed-eye F1 after the aspect fix and a CV-tuned threshold</a:t>
            </a:r>
            <a:endParaRPr lang="en-US" sz="1300" dirty="0"/>
          </a:p>
        </p:txBody>
      </p:sp>
      <p:sp>
        <p:nvSpPr>
          <p:cNvPr id="9" name="Text 7"/>
          <p:cNvSpPr txBox="1"/>
          <p:nvPr/>
        </p:nvSpPr>
        <p:spPr>
          <a:xfrm>
            <a:off x="548640" y="3931920"/>
            <a:ext cx="11064240" cy="91440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Two models trained and evaluated on 89 real people, a hidden bug found and a tempting confound caught by measuring, and an app that shows its own evidence.</a:t>
            </a:r>
            <a:endParaRPr lang="en-US" sz="2000" dirty="0"/>
          </a:p>
        </p:txBody>
      </p:sp>
      <p:sp>
        <p:nvSpPr>
          <p:cNvPr id="10" name="Text 8"/>
          <p:cNvSpPr txBox="1"/>
          <p:nvPr/>
        </p:nvSpPr>
        <p:spPr>
          <a:xfrm>
            <a:off x="548640" y="5212080"/>
            <a:ext cx="11064240"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Questions?</a:t>
            </a: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Night Drive">
  <a:themeElements>
    <a:clrScheme name="Night Drive">
      <a:dk1>
        <a:srgbClr val="0F172A"/>
      </a:dk1>
      <a:lt1>
        <a:srgbClr val="FFFFFF"/>
      </a:lt1>
      <a:dk2>
        <a:srgbClr val="0B1324"/>
      </a:dk2>
      <a:lt2>
        <a:srgbClr val="F1F5F9"/>
      </a:lt2>
      <a:accent1>
        <a:srgbClr val="F59E0B"/>
      </a:accent1>
      <a:accent2>
        <a:srgbClr val="0E7490"/>
      </a:accent2>
      <a:accent3>
        <a:srgbClr val="64748B"/>
      </a:accent3>
      <a:accent4>
        <a:srgbClr val="16A34A"/>
      </a:accent4>
      <a:accent5>
        <a:srgbClr val="DC2626"/>
      </a:accent5>
      <a:accent6>
        <a:srgbClr val="CBD5E1"/>
      </a:accent6>
      <a:hlink>
        <a:srgbClr val="0E7490"/>
      </a:hlink>
      <a:folHlink>
        <a:srgbClr val="64748B"/>
      </a:folHlink>
    </a:clrScheme>
    <a:fontScheme name="Night Dr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Drowsiness &amp; Distraction Detection</dc:title>
  <dc:subject>PptxGenJS Presentation</dc:subject>
  <dc:creator>Arnav Dugad, Sujal Kumar</dc:creator>
  <cp:lastModifiedBy>Arnav Dugad, Sujal Kumar</cp:lastModifiedBy>
  <cp:revision>1</cp:revision>
  <dcterms:created xsi:type="dcterms:W3CDTF">2026-10-31T15:48:25Z</dcterms:created>
  <dcterms:modified xsi:type="dcterms:W3CDTF">2026-10-31T15:48:25Z</dcterms:modified>
</cp:coreProperties>
</file>